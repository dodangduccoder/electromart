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vi-VN"/>
    </a:defPPr>
    <a:lvl1pPr marL="0" algn="l">
      <a:defRPr sz="1800">
        <a:latin typeface="Arial"/>
        <a:ea typeface="Arial"/>
        <a:cs typeface="Arial"/>
      </a:defRPr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ngduc-logo-horizontal-width-60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ngduc-logo-horizontal-width-6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ng bìa">
    <p:bg>
      <p:bgPr>
        <a:solidFill>
          <a:srgbClr val="06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63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052D32"/>
          </a:solidFill>
          <a:ln>
            <a:noFill/>
          </a:ln>
        </p:spPr>
      </p:sp>
      <p:sp>
        <p:nvSpPr>
          <p:cNvPr id="4" name="Shape"/>
          <p:cNvSpPr/>
          <p:nvPr/>
        </p:nvSpPr>
        <p:spPr>
          <a:xfrm>
            <a:off x="8183880" y="841248"/>
            <a:ext cx="3429000" cy="5257800"/>
          </a:xfrm>
          <a:prstGeom prst="roundRect">
            <a:avLst/>
          </a:prstGeom>
          <a:solidFill>
            <a:srgbClr val="0A4B52"/>
          </a:solidFill>
          <a:ln w="13970">
            <a:solidFill>
              <a:srgbClr val="22D3C5"/>
            </a:solidFill>
          </a:ln>
        </p:spPr>
      </p:sp>
      <p:sp>
        <p:nvSpPr>
          <p:cNvPr id="5" name="Shape"/>
          <p:cNvSpPr/>
          <p:nvPr/>
        </p:nvSpPr>
        <p:spPr>
          <a:xfrm>
            <a:off x="8485632" y="1170432"/>
            <a:ext cx="530352" cy="530352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6" name="Text"/>
          <p:cNvSpPr txBox="1"/>
          <p:nvPr/>
        </p:nvSpPr>
        <p:spPr>
          <a:xfrm>
            <a:off x="8613648" y="129844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50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1</a:t>
            </a:r>
            <a:endParaRPr lang="vi-VN" sz="1500"/>
          </a:p>
        </p:txBody>
      </p:sp>
      <p:sp>
        <p:nvSpPr>
          <p:cNvPr id="7" name="Text"/>
          <p:cNvSpPr txBox="1"/>
          <p:nvPr/>
        </p:nvSpPr>
        <p:spPr>
          <a:xfrm>
            <a:off x="9189720" y="112471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Laravel 11</a:t>
            </a:r>
            <a:endParaRPr lang="vi-VN" sz="1800"/>
          </a:p>
        </p:txBody>
      </p:sp>
      <p:sp>
        <p:nvSpPr>
          <p:cNvPr id="8" name="Text"/>
          <p:cNvSpPr txBox="1"/>
          <p:nvPr/>
        </p:nvSpPr>
        <p:spPr>
          <a:xfrm>
            <a:off x="9189720" y="155448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200">
                <a:solidFill>
                  <a:srgbClr val="B9D7DA"/>
                </a:solidFill>
                <a:latin typeface="Arial"/>
                <a:ea typeface="Arial"/>
                <a:cs typeface="Arial"/>
              </a:rPr>
              <a:t>Backend MVC</a:t>
            </a:r>
            <a:endParaRPr lang="vi-VN" sz="1200"/>
          </a:p>
        </p:txBody>
      </p:sp>
      <p:sp>
        <p:nvSpPr>
          <p:cNvPr id="9" name="Shape"/>
          <p:cNvSpPr/>
          <p:nvPr/>
        </p:nvSpPr>
        <p:spPr>
          <a:xfrm>
            <a:off x="8485632" y="2221992"/>
            <a:ext cx="530352" cy="530352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0" name="Text"/>
          <p:cNvSpPr txBox="1"/>
          <p:nvPr/>
        </p:nvSpPr>
        <p:spPr>
          <a:xfrm>
            <a:off x="8613648" y="235000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50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2</a:t>
            </a:r>
            <a:endParaRPr lang="vi-VN" sz="1500"/>
          </a:p>
        </p:txBody>
      </p:sp>
      <p:sp>
        <p:nvSpPr>
          <p:cNvPr id="11" name="Text"/>
          <p:cNvSpPr txBox="1"/>
          <p:nvPr/>
        </p:nvSpPr>
        <p:spPr>
          <a:xfrm>
            <a:off x="9189720" y="217627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MariaDB/MySQL</a:t>
            </a:r>
            <a:endParaRPr lang="vi-VN" sz="1800"/>
          </a:p>
        </p:txBody>
      </p:sp>
      <p:sp>
        <p:nvSpPr>
          <p:cNvPr id="12" name="Text"/>
          <p:cNvSpPr txBox="1"/>
          <p:nvPr/>
        </p:nvSpPr>
        <p:spPr>
          <a:xfrm>
            <a:off x="9189720" y="26060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200">
                <a:solidFill>
                  <a:srgbClr val="B9D7DA"/>
                </a:solidFill>
                <a:latin typeface="Arial"/>
                <a:ea typeface="Arial"/>
                <a:cs typeface="Arial"/>
              </a:rPr>
              <a:t>Dữ liệu sản phẩm</a:t>
            </a:r>
            <a:endParaRPr lang="vi-VN" sz="1200"/>
          </a:p>
        </p:txBody>
      </p:sp>
      <p:sp>
        <p:nvSpPr>
          <p:cNvPr id="13" name="Shape"/>
          <p:cNvSpPr/>
          <p:nvPr/>
        </p:nvSpPr>
        <p:spPr>
          <a:xfrm>
            <a:off x="8485632" y="3273552"/>
            <a:ext cx="530352" cy="530352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4" name="Text"/>
          <p:cNvSpPr txBox="1"/>
          <p:nvPr/>
        </p:nvSpPr>
        <p:spPr>
          <a:xfrm>
            <a:off x="8613648" y="3401568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50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3</a:t>
            </a:r>
            <a:endParaRPr lang="vi-VN" sz="1500"/>
          </a:p>
        </p:txBody>
      </p:sp>
      <p:sp>
        <p:nvSpPr>
          <p:cNvPr id="15" name="Text"/>
          <p:cNvSpPr txBox="1"/>
          <p:nvPr/>
        </p:nvSpPr>
        <p:spPr>
          <a:xfrm>
            <a:off x="9189720" y="322783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8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Blade + API</a:t>
            </a:r>
            <a:endParaRPr lang="vi-VN" sz="1800"/>
          </a:p>
        </p:txBody>
      </p:sp>
      <p:sp>
        <p:nvSpPr>
          <p:cNvPr id="16" name="Text"/>
          <p:cNvSpPr txBox="1"/>
          <p:nvPr/>
        </p:nvSpPr>
        <p:spPr>
          <a:xfrm>
            <a:off x="9189720" y="36576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200">
                <a:solidFill>
                  <a:srgbClr val="B9D7DA"/>
                </a:solidFill>
                <a:latin typeface="Arial"/>
                <a:ea typeface="Arial"/>
                <a:cs typeface="Arial"/>
              </a:rPr>
              <a:t>Storefront / Admin</a:t>
            </a:r>
            <a:endParaRPr lang="vi-VN" sz="1200"/>
          </a:p>
        </p:txBody>
      </p:sp>
      <p:sp>
        <p:nvSpPr>
          <p:cNvPr id="17" name="Shape"/>
          <p:cNvSpPr/>
          <p:nvPr/>
        </p:nvSpPr>
        <p:spPr>
          <a:xfrm>
            <a:off x="8759952" y="1700784"/>
            <a:ext cx="32004" cy="530352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18" name="Shape"/>
          <p:cNvSpPr/>
          <p:nvPr/>
        </p:nvSpPr>
        <p:spPr>
          <a:xfrm>
            <a:off x="8759952" y="2752344"/>
            <a:ext cx="32004" cy="530352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19" name="Pill"/>
          <p:cNvSpPr txBox="1"/>
          <p:nvPr/>
        </p:nvSpPr>
        <p:spPr>
          <a:xfrm>
            <a:off x="685800" y="658368"/>
            <a:ext cx="2514600" cy="347472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  <p:txBody>
          <a:bodyPr wrap="square" anchor="mid" lIns="36576" tIns="36576" rIns="36576" bIns="36576">
            <a:normAutofit fontScale="85000" lnSpcReduction="15000"/>
          </a:bodyPr>
          <a:lstStyle/>
          <a:p>
            <a:pPr algn="ctr"/>
            <a:r>
              <a:rPr lang="vi-VN" sz="110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BÁO CÁO TIẾN ĐỘ ĐATN</a:t>
            </a:r>
            <a:endParaRPr lang="vi-VN" sz="1100"/>
          </a:p>
        </p:txBody>
      </p:sp>
      <p:sp>
        <p:nvSpPr>
          <p:cNvPr id="20" name="Text"/>
          <p:cNvSpPr txBox="1"/>
          <p:nvPr/>
        </p:nvSpPr>
        <p:spPr>
          <a:xfrm>
            <a:off x="685800" y="1389888"/>
            <a:ext cx="690372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15000"/>
          </a:bodyPr>
          <a:lstStyle/>
          <a:p>
            <a:pPr algn="l">
              <a:spcAft>
                <a:spcPts val="100"/>
              </a:spcAft>
            </a:pPr>
            <a:r>
              <a:rPr lang="vi-VN" sz="3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Xây dựng website</a:t>
            </a:r>
            <a:endParaRPr lang="vi-VN" sz="3100"/>
          </a:p>
          <a:p>
            <a:pPr algn="l">
              <a:spcAft>
                <a:spcPts val="100"/>
              </a:spcAft>
            </a:pPr>
            <a:r>
              <a:rPr lang="vi-VN" sz="3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thương mại điện tử</a:t>
            </a:r>
            <a:endParaRPr lang="vi-VN" sz="3100"/>
          </a:p>
          <a:p>
            <a:pPr algn="l">
              <a:spcAft>
                <a:spcPts val="100"/>
              </a:spcAft>
            </a:pPr>
            <a:r>
              <a:rPr lang="vi-VN" sz="31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bán thiết bị điện tử</a:t>
            </a:r>
            <a:endParaRPr lang="vi-VN" sz="3100"/>
          </a:p>
        </p:txBody>
      </p:sp>
      <p:sp>
        <p:nvSpPr>
          <p:cNvPr id="21" name="Shape"/>
          <p:cNvSpPr/>
          <p:nvPr/>
        </p:nvSpPr>
        <p:spPr>
          <a:xfrm>
            <a:off x="685800" y="3246120"/>
            <a:ext cx="1234440" cy="50292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685800" y="3529584"/>
            <a:ext cx="63093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600">
                <a:solidFill>
                  <a:srgbClr val="B9D7DA"/>
                </a:solidFill>
                <a:latin typeface="Arial"/>
                <a:ea typeface="Arial"/>
                <a:cs typeface="Arial"/>
              </a:rPr>
              <a:t>Đồ án tốt nghiệp ngành Công nghệ thông tin</a:t>
            </a:r>
            <a:endParaRPr lang="vi-VN" sz="1600"/>
          </a:p>
        </p:txBody>
      </p:sp>
      <p:sp>
        <p:nvSpPr>
          <p:cNvPr id="23" name="Shape"/>
          <p:cNvSpPr/>
          <p:nvPr/>
        </p:nvSpPr>
        <p:spPr>
          <a:xfrm>
            <a:off x="685800" y="4736592"/>
            <a:ext cx="6263640" cy="1316736"/>
          </a:xfrm>
          <a:prstGeom prst="roundRect">
            <a:avLst/>
          </a:prstGeom>
          <a:solidFill>
            <a:srgbClr val="0A4B52"/>
          </a:solidFill>
          <a:ln w="10160">
            <a:solidFill>
              <a:srgbClr val="22D3C5"/>
            </a:solidFill>
          </a:ln>
        </p:spPr>
      </p:sp>
      <p:sp>
        <p:nvSpPr>
          <p:cNvPr id="24" name="Text"/>
          <p:cNvSpPr txBox="1"/>
          <p:nvPr/>
        </p:nvSpPr>
        <p:spPr>
          <a:xfrm>
            <a:off x="960120" y="4937760"/>
            <a:ext cx="571500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15000"/>
          </a:bodyPr>
          <a:lstStyle/>
          <a:p>
            <a:pPr algn="l">
              <a:spcAft>
                <a:spcPts val="200"/>
              </a:spcAft>
            </a:pPr>
            <a:r>
              <a:rPr lang="vi-VN" sz="1380">
                <a:solidFill>
                  <a:srgbClr val="F8FAFC"/>
                </a:solidFill>
                <a:latin typeface="Arial"/>
                <a:ea typeface="Arial"/>
                <a:cs typeface="Arial"/>
              </a:rPr>
              <a:t>Sinh viên: [Điền tên]</a:t>
            </a:r>
            <a:endParaRPr lang="vi-VN" sz="1380"/>
          </a:p>
          <a:p>
            <a:pPr algn="l">
              <a:spcAft>
                <a:spcPts val="200"/>
              </a:spcAft>
            </a:pPr>
            <a:r>
              <a:rPr lang="vi-VN" sz="1380">
                <a:solidFill>
                  <a:srgbClr val="F8FAFC"/>
                </a:solidFill>
                <a:latin typeface="Arial"/>
                <a:ea typeface="Arial"/>
                <a:cs typeface="Arial"/>
              </a:rPr>
              <a:t>Mã sinh viên: [Điền MSSV]</a:t>
            </a:r>
            <a:endParaRPr lang="vi-VN" sz="1380"/>
          </a:p>
          <a:p>
            <a:pPr algn="l">
              <a:spcAft>
                <a:spcPts val="200"/>
              </a:spcAft>
            </a:pPr>
            <a:r>
              <a:rPr lang="vi-VN" sz="1380">
                <a:solidFill>
                  <a:srgbClr val="F8FAFC"/>
                </a:solidFill>
                <a:latin typeface="Arial"/>
                <a:ea typeface="Arial"/>
                <a:cs typeface="Arial"/>
              </a:rPr>
              <a:t>GVHD: [Điền GVHD]</a:t>
            </a:r>
            <a:endParaRPr lang="vi-VN" sz="1380"/>
          </a:p>
          <a:p>
            <a:pPr algn="l">
              <a:spcAft>
                <a:spcPts val="200"/>
              </a:spcAft>
            </a:pPr>
            <a:r>
              <a:rPr lang="vi-VN" sz="1380">
                <a:solidFill>
                  <a:srgbClr val="F8FAFC"/>
                </a:solidFill>
                <a:latin typeface="Arial"/>
                <a:ea typeface="Arial"/>
                <a:cs typeface="Arial"/>
              </a:rPr>
              <a:t>Khoa/Bộ môn: [Điền nếu có]</a:t>
            </a:r>
            <a:endParaRPr lang="vi-VN" sz="1380"/>
          </a:p>
        </p:txBody>
      </p:sp>
      <p:sp>
        <p:nvSpPr>
          <p:cNvPr id="25" name="Shape"/>
          <p:cNvSpPr/>
          <p:nvPr/>
        </p:nvSpPr>
        <p:spPr>
          <a:xfrm>
            <a:off x="8979408" y="4892040"/>
            <a:ext cx="1993392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26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44" y="5020056"/>
            <a:ext cx="570451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ục tiêu của đề tài">
    <p:bg>
      <p:bgPr>
        <a:solidFill>
          <a:srgbClr val="06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58368" y="31089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8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BÁO CÁO TIẾN ĐỘ ĐATN</a:t>
            </a:r>
            <a:endParaRPr lang="vi-VN" sz="850"/>
          </a:p>
        </p:txBody>
      </p:sp>
      <p:sp>
        <p:nvSpPr>
          <p:cNvPr id="4" name="Slide Title"/>
          <p:cNvSpPr txBox="1"/>
          <p:nvPr/>
        </p:nvSpPr>
        <p:spPr>
          <a:xfrm>
            <a:off x="640080" y="621792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2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Mục tiêu của đề tài</a:t>
            </a:r>
            <a:endParaRPr lang="vi-VN" sz="2500"/>
          </a:p>
        </p:txBody>
      </p:sp>
      <p:sp>
        <p:nvSpPr>
          <p:cNvPr id="5" name="Slide Number"/>
          <p:cNvSpPr txBox="1"/>
          <p:nvPr/>
        </p:nvSpPr>
        <p:spPr>
          <a:xfrm>
            <a:off x="10771632" y="329184"/>
            <a:ext cx="658368" cy="310896"/>
          </a:xfrm>
          <a:prstGeom prst="roundRect">
            <a:avLst/>
          </a:prstGeom>
          <a:solidFill>
            <a:srgbClr val="052D32"/>
          </a:solidFill>
          <a:ln w="12700">
            <a:solidFill>
              <a:srgbClr val="22D3C5"/>
            </a:solidFill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02</a:t>
            </a:r>
            <a:endParaRPr lang="vi-VN" sz="1300"/>
          </a:p>
        </p:txBody>
      </p:sp>
      <p:sp>
        <p:nvSpPr>
          <p:cNvPr id="6" name="Title Rule"/>
          <p:cNvSpPr/>
          <p:nvPr/>
        </p:nvSpPr>
        <p:spPr>
          <a:xfrm>
            <a:off x="640080" y="1170432"/>
            <a:ext cx="1143000" cy="41148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685800" y="1508760"/>
            <a:ext cx="5257800" cy="1078992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8" name="Shape"/>
          <p:cNvSpPr/>
          <p:nvPr/>
        </p:nvSpPr>
        <p:spPr>
          <a:xfrm>
            <a:off x="941832" y="1764792"/>
            <a:ext cx="676656" cy="530352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969264" y="1865376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88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WEB</a:t>
            </a:r>
            <a:endParaRPr lang="vi-VN" sz="880"/>
          </a:p>
        </p:txBody>
      </p:sp>
      <p:sp>
        <p:nvSpPr>
          <p:cNvPr id="10" name="Text"/>
          <p:cNvSpPr txBox="1"/>
          <p:nvPr/>
        </p:nvSpPr>
        <p:spPr>
          <a:xfrm>
            <a:off x="1801368" y="170992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450">
                <a:solidFill>
                  <a:srgbClr val="F8FAFC"/>
                </a:solidFill>
                <a:latin typeface="Arial"/>
                <a:ea typeface="Arial"/>
                <a:cs typeface="Arial"/>
              </a:rPr>
              <a:t>Xây dựng website thương mại điện tử bán thiết bị điện tử.</a:t>
            </a:r>
            <a:endParaRPr lang="vi-VN" sz="1450"/>
          </a:p>
        </p:txBody>
      </p:sp>
      <p:sp>
        <p:nvSpPr>
          <p:cNvPr id="11" name="Shape"/>
          <p:cNvSpPr/>
          <p:nvPr/>
        </p:nvSpPr>
        <p:spPr>
          <a:xfrm>
            <a:off x="6263640" y="1508760"/>
            <a:ext cx="5257800" cy="1078992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12" name="Shape"/>
          <p:cNvSpPr/>
          <p:nvPr/>
        </p:nvSpPr>
        <p:spPr>
          <a:xfrm>
            <a:off x="6519672" y="1764792"/>
            <a:ext cx="676656" cy="530352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6547104" y="1865376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88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DATA</a:t>
            </a:r>
            <a:endParaRPr lang="vi-VN" sz="880"/>
          </a:p>
        </p:txBody>
      </p:sp>
      <p:sp>
        <p:nvSpPr>
          <p:cNvPr id="14" name="Text"/>
          <p:cNvSpPr txBox="1"/>
          <p:nvPr/>
        </p:nvSpPr>
        <p:spPr>
          <a:xfrm>
            <a:off x="7379208" y="170992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450">
                <a:solidFill>
                  <a:srgbClr val="F8FAFC"/>
                </a:solidFill>
                <a:latin typeface="Arial"/>
                <a:ea typeface="Arial"/>
                <a:cs typeface="Arial"/>
              </a:rPr>
              <a:t>Quản lý sản phẩm, danh mục, thương hiệu, khách hàng, đơn hàng.</a:t>
            </a:r>
            <a:endParaRPr lang="vi-VN" sz="1450"/>
          </a:p>
        </p:txBody>
      </p:sp>
      <p:sp>
        <p:nvSpPr>
          <p:cNvPr id="15" name="Shape"/>
          <p:cNvSpPr/>
          <p:nvPr/>
        </p:nvSpPr>
        <p:spPr>
          <a:xfrm>
            <a:off x="685800" y="2761488"/>
            <a:ext cx="5257800" cy="1078992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16" name="Shape"/>
          <p:cNvSpPr/>
          <p:nvPr/>
        </p:nvSpPr>
        <p:spPr>
          <a:xfrm>
            <a:off x="941832" y="3017520"/>
            <a:ext cx="676656" cy="530352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969264" y="3118104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88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CART</a:t>
            </a:r>
            <a:endParaRPr lang="vi-VN" sz="880"/>
          </a:p>
        </p:txBody>
      </p:sp>
      <p:sp>
        <p:nvSpPr>
          <p:cNvPr id="18" name="Text"/>
          <p:cNvSpPr txBox="1"/>
          <p:nvPr/>
        </p:nvSpPr>
        <p:spPr>
          <a:xfrm>
            <a:off x="1801368" y="296265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450">
                <a:solidFill>
                  <a:srgbClr val="F8FAFC"/>
                </a:solidFill>
                <a:latin typeface="Arial"/>
                <a:ea typeface="Arial"/>
                <a:cs typeface="Arial"/>
              </a:rPr>
              <a:t>Hỗ trợ giỏ hàng, checkout COD và tài khoản khách hàng.</a:t>
            </a:r>
            <a:endParaRPr lang="vi-VN" sz="1450"/>
          </a:p>
        </p:txBody>
      </p:sp>
      <p:sp>
        <p:nvSpPr>
          <p:cNvPr id="19" name="Shape"/>
          <p:cNvSpPr/>
          <p:nvPr/>
        </p:nvSpPr>
        <p:spPr>
          <a:xfrm>
            <a:off x="6263640" y="2761488"/>
            <a:ext cx="5257800" cy="1078992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20" name="Shape"/>
          <p:cNvSpPr/>
          <p:nvPr/>
        </p:nvSpPr>
        <p:spPr>
          <a:xfrm>
            <a:off x="6519672" y="3017520"/>
            <a:ext cx="676656" cy="530352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6547104" y="3118104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88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API</a:t>
            </a:r>
            <a:endParaRPr lang="vi-VN" sz="880"/>
          </a:p>
        </p:txBody>
      </p:sp>
      <p:sp>
        <p:nvSpPr>
          <p:cNvPr id="22" name="Text"/>
          <p:cNvSpPr txBox="1"/>
          <p:nvPr/>
        </p:nvSpPr>
        <p:spPr>
          <a:xfrm>
            <a:off x="7379208" y="296265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450">
                <a:solidFill>
                  <a:srgbClr val="F8FAFC"/>
                </a:solidFill>
                <a:latin typeface="Arial"/>
                <a:ea typeface="Arial"/>
                <a:cs typeface="Arial"/>
              </a:rPr>
              <a:t>Xây dựng API cho Public, Customer và Admin.</a:t>
            </a:r>
            <a:endParaRPr lang="vi-VN" sz="1450"/>
          </a:p>
        </p:txBody>
      </p:sp>
      <p:sp>
        <p:nvSpPr>
          <p:cNvPr id="23" name="Shape"/>
          <p:cNvSpPr/>
          <p:nvPr/>
        </p:nvSpPr>
        <p:spPr>
          <a:xfrm>
            <a:off x="685800" y="4014216"/>
            <a:ext cx="10835640" cy="1078992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24" name="Shape"/>
          <p:cNvSpPr/>
          <p:nvPr/>
        </p:nvSpPr>
        <p:spPr>
          <a:xfrm>
            <a:off x="941832" y="4270248"/>
            <a:ext cx="676656" cy="530352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969264" y="4370832"/>
            <a:ext cx="621792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88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STACK</a:t>
            </a:r>
            <a:endParaRPr lang="vi-VN" sz="880"/>
          </a:p>
        </p:txBody>
      </p:sp>
      <p:sp>
        <p:nvSpPr>
          <p:cNvPr id="26" name="Text"/>
          <p:cNvSpPr txBox="1"/>
          <p:nvPr/>
        </p:nvSpPr>
        <p:spPr>
          <a:xfrm>
            <a:off x="1801368" y="4215384"/>
            <a:ext cx="9418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450">
                <a:solidFill>
                  <a:srgbClr val="F8FAFC"/>
                </a:solidFill>
                <a:latin typeface="Arial"/>
                <a:ea typeface="Arial"/>
                <a:cs typeface="Arial"/>
              </a:rPr>
              <a:t>Áp dụng Laravel, MariaDB/MySQL, Blade và Sanctum.</a:t>
            </a:r>
            <a:endParaRPr lang="vi-VN" sz="1450"/>
          </a:p>
        </p:txBody>
      </p:sp>
      <p:sp>
        <p:nvSpPr>
          <p:cNvPr id="27" name="Text"/>
          <p:cNvSpPr txBox="1"/>
          <p:nvPr/>
        </p:nvSpPr>
        <p:spPr>
          <a:xfrm>
            <a:off x="694944" y="5797296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280">
                <a:solidFill>
                  <a:srgbClr val="B9D7DA"/>
                </a:solidFill>
                <a:latin typeface="Arial"/>
                <a:ea typeface="Arial"/>
                <a:cs typeface="Arial"/>
              </a:rPr>
              <a:t>Phạm vi tập trung: luồng mua hàng, quản trị dữ liệu và API phục vụ demo/tích hợp.</a:t>
            </a:r>
            <a:endParaRPr lang="vi-VN" sz="12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ác công việc đã làm">
    <p:bg>
      <p:bgPr>
        <a:solidFill>
          <a:srgbClr val="06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58368" y="31089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8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BÁO CÁO TIẾN ĐỘ ĐATN</a:t>
            </a:r>
            <a:endParaRPr lang="vi-VN" sz="850"/>
          </a:p>
        </p:txBody>
      </p:sp>
      <p:sp>
        <p:nvSpPr>
          <p:cNvPr id="4" name="Slide Title"/>
          <p:cNvSpPr txBox="1"/>
          <p:nvPr/>
        </p:nvSpPr>
        <p:spPr>
          <a:xfrm>
            <a:off x="640080" y="621792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2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Các công việc đã làm</a:t>
            </a:r>
            <a:endParaRPr lang="vi-VN" sz="2500"/>
          </a:p>
        </p:txBody>
      </p:sp>
      <p:sp>
        <p:nvSpPr>
          <p:cNvPr id="5" name="Slide Number"/>
          <p:cNvSpPr txBox="1"/>
          <p:nvPr/>
        </p:nvSpPr>
        <p:spPr>
          <a:xfrm>
            <a:off x="10771632" y="329184"/>
            <a:ext cx="658368" cy="310896"/>
          </a:xfrm>
          <a:prstGeom prst="roundRect">
            <a:avLst/>
          </a:prstGeom>
          <a:solidFill>
            <a:srgbClr val="052D32"/>
          </a:solidFill>
          <a:ln w="12700">
            <a:solidFill>
              <a:srgbClr val="22D3C5"/>
            </a:solidFill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03</a:t>
            </a:r>
            <a:endParaRPr lang="vi-VN" sz="1300"/>
          </a:p>
        </p:txBody>
      </p:sp>
      <p:sp>
        <p:nvSpPr>
          <p:cNvPr id="6" name="Title Rule"/>
          <p:cNvSpPr/>
          <p:nvPr/>
        </p:nvSpPr>
        <p:spPr>
          <a:xfrm>
            <a:off x="640080" y="1170432"/>
            <a:ext cx="1143000" cy="41148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685800" y="1426464"/>
            <a:ext cx="10835640" cy="4315968"/>
          </a:xfrm>
          <a:prstGeom prst="roundRect">
            <a:avLst/>
          </a:prstGeom>
          <a:solidFill>
            <a:srgbClr val="052D32"/>
          </a:solidFill>
          <a:ln w="6350">
            <a:solidFill>
              <a:srgbClr val="22D3C5"/>
            </a:solidFill>
          </a:ln>
        </p:spPr>
      </p:sp>
      <p:sp>
        <p:nvSpPr>
          <p:cNvPr id="8" name="Check Box"/>
          <p:cNvSpPr/>
          <p:nvPr/>
        </p:nvSpPr>
        <p:spPr>
          <a:xfrm>
            <a:off x="1024128" y="181051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9" name="Check"/>
          <p:cNvSpPr txBox="1"/>
          <p:nvPr/>
        </p:nvSpPr>
        <p:spPr>
          <a:xfrm>
            <a:off x="1056132" y="179679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10" name="Checklist Text"/>
          <p:cNvSpPr txBox="1"/>
          <p:nvPr/>
        </p:nvSpPr>
        <p:spPr>
          <a:xfrm>
            <a:off x="1408176" y="175564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Hoàn thiện Chương 1: Cơ sở lý thuyết.</a:t>
            </a:r>
            <a:endParaRPr lang="vi-VN" sz="1350"/>
          </a:p>
        </p:txBody>
      </p:sp>
      <p:sp>
        <p:nvSpPr>
          <p:cNvPr id="11" name="Check Box"/>
          <p:cNvSpPr/>
          <p:nvPr/>
        </p:nvSpPr>
        <p:spPr>
          <a:xfrm>
            <a:off x="1024128" y="263347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2" name="Check"/>
          <p:cNvSpPr txBox="1"/>
          <p:nvPr/>
        </p:nvSpPr>
        <p:spPr>
          <a:xfrm>
            <a:off x="1056132" y="261975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13" name="Checklist Text"/>
          <p:cNvSpPr txBox="1"/>
          <p:nvPr/>
        </p:nvSpPr>
        <p:spPr>
          <a:xfrm>
            <a:off x="1408176" y="257860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Hoàn thiện Chương 2: Phân tích và thiết kế hệ thống.</a:t>
            </a:r>
            <a:endParaRPr lang="vi-VN" sz="1350"/>
          </a:p>
        </p:txBody>
      </p:sp>
      <p:sp>
        <p:nvSpPr>
          <p:cNvPr id="14" name="Check Box"/>
          <p:cNvSpPr/>
          <p:nvPr/>
        </p:nvSpPr>
        <p:spPr>
          <a:xfrm>
            <a:off x="1024128" y="345643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5" name="Check"/>
          <p:cNvSpPr txBox="1"/>
          <p:nvPr/>
        </p:nvSpPr>
        <p:spPr>
          <a:xfrm>
            <a:off x="1056132" y="344271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16" name="Checklist Text"/>
          <p:cNvSpPr txBox="1"/>
          <p:nvPr/>
        </p:nvSpPr>
        <p:spPr>
          <a:xfrm>
            <a:off x="1408176" y="340156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Thiết kế database và nhóm bảng chính.</a:t>
            </a:r>
            <a:endParaRPr lang="vi-VN" sz="1350"/>
          </a:p>
        </p:txBody>
      </p:sp>
      <p:sp>
        <p:nvSpPr>
          <p:cNvPr id="17" name="Check Box"/>
          <p:cNvSpPr/>
          <p:nvPr/>
        </p:nvSpPr>
        <p:spPr>
          <a:xfrm>
            <a:off x="1024128" y="427939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8" name="Check"/>
          <p:cNvSpPr txBox="1"/>
          <p:nvPr/>
        </p:nvSpPr>
        <p:spPr>
          <a:xfrm>
            <a:off x="1056132" y="426567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19" name="Checklist Text"/>
          <p:cNvSpPr txBox="1"/>
          <p:nvPr/>
        </p:nvSpPr>
        <p:spPr>
          <a:xfrm>
            <a:off x="1408176" y="422452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Xây dựng các phân hệ Admin, Storefront, Customer, API.</a:t>
            </a:r>
            <a:endParaRPr lang="vi-VN" sz="1350"/>
          </a:p>
        </p:txBody>
      </p:sp>
      <p:sp>
        <p:nvSpPr>
          <p:cNvPr id="20" name="Check Box"/>
          <p:cNvSpPr/>
          <p:nvPr/>
        </p:nvSpPr>
        <p:spPr>
          <a:xfrm>
            <a:off x="6263640" y="181051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1" name="Check"/>
          <p:cNvSpPr txBox="1"/>
          <p:nvPr/>
        </p:nvSpPr>
        <p:spPr>
          <a:xfrm>
            <a:off x="6295644" y="179679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22" name="Checklist Text"/>
          <p:cNvSpPr txBox="1"/>
          <p:nvPr/>
        </p:nvSpPr>
        <p:spPr>
          <a:xfrm>
            <a:off x="6647688" y="1755648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Import dữ liệu sản phẩm mẫu.</a:t>
            </a:r>
            <a:endParaRPr lang="vi-VN" sz="1350"/>
          </a:p>
        </p:txBody>
      </p:sp>
      <p:sp>
        <p:nvSpPr>
          <p:cNvPr id="23" name="Check Box"/>
          <p:cNvSpPr/>
          <p:nvPr/>
        </p:nvSpPr>
        <p:spPr>
          <a:xfrm>
            <a:off x="6263640" y="263347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4" name="Check"/>
          <p:cNvSpPr txBox="1"/>
          <p:nvPr/>
        </p:nvSpPr>
        <p:spPr>
          <a:xfrm>
            <a:off x="6295644" y="261975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25" name="Checklist Text"/>
          <p:cNvSpPr txBox="1"/>
          <p:nvPr/>
        </p:nvSpPr>
        <p:spPr>
          <a:xfrm>
            <a:off x="6647688" y="2578608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Tạo sơ đồ, ERD, use case, activity, sequence.</a:t>
            </a:r>
            <a:endParaRPr lang="vi-VN" sz="1350"/>
          </a:p>
        </p:txBody>
      </p:sp>
      <p:sp>
        <p:nvSpPr>
          <p:cNvPr id="26" name="Check Box"/>
          <p:cNvSpPr/>
          <p:nvPr/>
        </p:nvSpPr>
        <p:spPr>
          <a:xfrm>
            <a:off x="6263640" y="345643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7" name="Check"/>
          <p:cNvSpPr txBox="1"/>
          <p:nvPr/>
        </p:nvSpPr>
        <p:spPr>
          <a:xfrm>
            <a:off x="6295644" y="344271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28" name="Checklist Text"/>
          <p:cNvSpPr txBox="1"/>
          <p:nvPr/>
        </p:nvSpPr>
        <p:spPr>
          <a:xfrm>
            <a:off x="6647688" y="3401568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Chụp giao diện hệ thống và đưa vào báo cáo.</a:t>
            </a:r>
            <a:endParaRPr lang="vi-VN" sz="1350"/>
          </a:p>
        </p:txBody>
      </p:sp>
      <p:sp>
        <p:nvSpPr>
          <p:cNvPr id="29" name="Check Box"/>
          <p:cNvSpPr/>
          <p:nvPr/>
        </p:nvSpPr>
        <p:spPr>
          <a:xfrm>
            <a:off x="6263640" y="4279392"/>
            <a:ext cx="274320" cy="274320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30" name="Check"/>
          <p:cNvSpPr txBox="1"/>
          <p:nvPr/>
        </p:nvSpPr>
        <p:spPr>
          <a:xfrm>
            <a:off x="6295644" y="4265676"/>
            <a:ext cx="210312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08353A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lang="vi-VN" sz="1300"/>
          </a:p>
        </p:txBody>
      </p:sp>
      <p:sp>
        <p:nvSpPr>
          <p:cNvPr id="31" name="Checklist Text"/>
          <p:cNvSpPr txBox="1"/>
          <p:nvPr/>
        </p:nvSpPr>
        <p:spPr>
          <a:xfrm>
            <a:off x="6647688" y="4224528"/>
            <a:ext cx="4480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l"/>
            <a:r>
              <a:rPr lang="vi-VN" sz="1350">
                <a:solidFill>
                  <a:srgbClr val="F8FAFC"/>
                </a:solidFill>
                <a:latin typeface="Arial"/>
                <a:ea typeface="Arial"/>
                <a:cs typeface="Arial"/>
              </a:rPr>
              <a:t>Chỉnh định dạng báo cáo theo mẫu.</a:t>
            </a:r>
            <a:endParaRPr lang="vi-VN" sz="1350"/>
          </a:p>
        </p:txBody>
      </p:sp>
      <p:sp>
        <p:nvSpPr>
          <p:cNvPr id="32" name="Shape"/>
          <p:cNvSpPr/>
          <p:nvPr/>
        </p:nvSpPr>
        <p:spPr>
          <a:xfrm>
            <a:off x="1024128" y="5212080"/>
            <a:ext cx="9985248" cy="310896"/>
          </a:xfrm>
          <a:prstGeom prst="roundRect">
            <a:avLst/>
          </a:prstGeom>
          <a:solidFill>
            <a:srgbClr val="08464D"/>
          </a:solidFill>
          <a:ln>
            <a:noFill/>
          </a:ln>
        </p:spPr>
      </p:sp>
      <p:sp>
        <p:nvSpPr>
          <p:cNvPr id="33" name="Shape"/>
          <p:cNvSpPr/>
          <p:nvPr/>
        </p:nvSpPr>
        <p:spPr>
          <a:xfrm>
            <a:off x="1024128" y="5212080"/>
            <a:ext cx="7818120" cy="310896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34" name="Text"/>
          <p:cNvSpPr txBox="1"/>
          <p:nvPr/>
        </p:nvSpPr>
        <p:spPr>
          <a:xfrm>
            <a:off x="1207008" y="524865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05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Tiến độ nền tảng: đã hoàn thiện</a:t>
            </a:r>
            <a:endParaRPr lang="vi-VN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ác công việc đang làm">
    <p:bg>
      <p:bgPr>
        <a:solidFill>
          <a:srgbClr val="06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58368" y="31089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8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BÁO CÁO TIẾN ĐỘ ĐATN</a:t>
            </a:r>
            <a:endParaRPr lang="vi-VN" sz="850"/>
          </a:p>
        </p:txBody>
      </p:sp>
      <p:sp>
        <p:nvSpPr>
          <p:cNvPr id="4" name="Slide Title"/>
          <p:cNvSpPr txBox="1"/>
          <p:nvPr/>
        </p:nvSpPr>
        <p:spPr>
          <a:xfrm>
            <a:off x="640080" y="621792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2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Các công việc đang làm</a:t>
            </a:r>
            <a:endParaRPr lang="vi-VN" sz="2500"/>
          </a:p>
        </p:txBody>
      </p:sp>
      <p:sp>
        <p:nvSpPr>
          <p:cNvPr id="5" name="Slide Number"/>
          <p:cNvSpPr txBox="1"/>
          <p:nvPr/>
        </p:nvSpPr>
        <p:spPr>
          <a:xfrm>
            <a:off x="10771632" y="329184"/>
            <a:ext cx="658368" cy="310896"/>
          </a:xfrm>
          <a:prstGeom prst="roundRect">
            <a:avLst/>
          </a:prstGeom>
          <a:solidFill>
            <a:srgbClr val="052D32"/>
          </a:solidFill>
          <a:ln w="12700">
            <a:solidFill>
              <a:srgbClr val="22D3C5"/>
            </a:solidFill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04</a:t>
            </a:r>
            <a:endParaRPr lang="vi-VN" sz="1300"/>
          </a:p>
        </p:txBody>
      </p:sp>
      <p:sp>
        <p:nvSpPr>
          <p:cNvPr id="6" name="Title Rule"/>
          <p:cNvSpPr/>
          <p:nvPr/>
        </p:nvSpPr>
        <p:spPr>
          <a:xfrm>
            <a:off x="640080" y="1170432"/>
            <a:ext cx="1143000" cy="41148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777240" y="1600200"/>
            <a:ext cx="5074920" cy="1417320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8" name="Pill"/>
          <p:cNvSpPr txBox="1"/>
          <p:nvPr/>
        </p:nvSpPr>
        <p:spPr>
          <a:xfrm>
            <a:off x="1051560" y="1856232"/>
            <a:ext cx="1536192" cy="310896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  <p:txBody>
          <a:bodyPr wrap="square" anchor="mid" lIns="36576" tIns="36576" rIns="36576" bIns="36576">
            <a:normAutofit fontScale="85000" lnSpcReduction="15000"/>
          </a:bodyPr>
          <a:lstStyle/>
          <a:p>
            <a:pPr algn="ctr"/>
            <a:r>
              <a:rPr lang="vi-VN" sz="93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CHƯƠNG 3</a:t>
            </a:r>
            <a:endParaRPr lang="vi-VN" sz="930"/>
          </a:p>
        </p:txBody>
      </p:sp>
      <p:sp>
        <p:nvSpPr>
          <p:cNvPr id="9" name="Text"/>
          <p:cNvSpPr txBox="1"/>
          <p:nvPr/>
        </p:nvSpPr>
        <p:spPr>
          <a:xfrm>
            <a:off x="1051560" y="2276856"/>
            <a:ext cx="44439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400">
                <a:solidFill>
                  <a:srgbClr val="F8FAFC"/>
                </a:solidFill>
                <a:latin typeface="Arial"/>
                <a:ea typeface="Arial"/>
                <a:cs typeface="Arial"/>
              </a:rPr>
              <a:t>Hoàn thiện phần cài đặt và kiểm thử hệ thống.</a:t>
            </a:r>
            <a:endParaRPr lang="vi-VN" sz="1400"/>
          </a:p>
        </p:txBody>
      </p:sp>
      <p:sp>
        <p:nvSpPr>
          <p:cNvPr id="10" name="Shape"/>
          <p:cNvSpPr/>
          <p:nvPr/>
        </p:nvSpPr>
        <p:spPr>
          <a:xfrm>
            <a:off x="6327648" y="1600200"/>
            <a:ext cx="5074920" cy="1417320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11" name="Pill"/>
          <p:cNvSpPr txBox="1"/>
          <p:nvPr/>
        </p:nvSpPr>
        <p:spPr>
          <a:xfrm>
            <a:off x="6601968" y="1856232"/>
            <a:ext cx="1536192" cy="310896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  <p:txBody>
          <a:bodyPr wrap="square" anchor="mid" lIns="36576" tIns="36576" rIns="36576" bIns="36576">
            <a:normAutofit fontScale="85000" lnSpcReduction="15000"/>
          </a:bodyPr>
          <a:lstStyle/>
          <a:p>
            <a:pPr algn="ctr"/>
            <a:r>
              <a:rPr lang="vi-VN" sz="93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DỮ LIỆU MẪU</a:t>
            </a:r>
            <a:endParaRPr lang="vi-VN" sz="930"/>
          </a:p>
        </p:txBody>
      </p:sp>
      <p:sp>
        <p:nvSpPr>
          <p:cNvPr id="12" name="Text"/>
          <p:cNvSpPr txBox="1"/>
          <p:nvPr/>
        </p:nvSpPr>
        <p:spPr>
          <a:xfrm>
            <a:off x="6601968" y="2276856"/>
            <a:ext cx="44439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400">
                <a:solidFill>
                  <a:srgbClr val="F8FAFC"/>
                </a:solidFill>
                <a:latin typeface="Arial"/>
                <a:ea typeface="Arial"/>
                <a:cs typeface="Arial"/>
              </a:rPr>
              <a:t>Bổ sung ảnh sản phẩm cho bộ dữ liệu demo.</a:t>
            </a:r>
            <a:endParaRPr lang="vi-VN" sz="1400"/>
          </a:p>
        </p:txBody>
      </p:sp>
      <p:sp>
        <p:nvSpPr>
          <p:cNvPr id="13" name="Shape"/>
          <p:cNvSpPr/>
          <p:nvPr/>
        </p:nvSpPr>
        <p:spPr>
          <a:xfrm>
            <a:off x="777240" y="3703320"/>
            <a:ext cx="5074920" cy="1417320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14" name="Pill"/>
          <p:cNvSpPr txBox="1"/>
          <p:nvPr/>
        </p:nvSpPr>
        <p:spPr>
          <a:xfrm>
            <a:off x="1051560" y="3959352"/>
            <a:ext cx="1536192" cy="310896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  <p:txBody>
          <a:bodyPr wrap="square" anchor="mid" lIns="36576" tIns="36576" rIns="36576" bIns="36576">
            <a:normAutofit fontScale="85000" lnSpcReduction="15000"/>
          </a:bodyPr>
          <a:lstStyle/>
          <a:p>
            <a:pPr algn="ctr"/>
            <a:r>
              <a:rPr lang="vi-VN" sz="93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BÁO CÁO</a:t>
            </a:r>
            <a:endParaRPr lang="vi-VN" sz="930"/>
          </a:p>
        </p:txBody>
      </p:sp>
      <p:sp>
        <p:nvSpPr>
          <p:cNvPr id="15" name="Text"/>
          <p:cNvSpPr txBox="1"/>
          <p:nvPr/>
        </p:nvSpPr>
        <p:spPr>
          <a:xfrm>
            <a:off x="1051560" y="4379976"/>
            <a:ext cx="44439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400">
                <a:solidFill>
                  <a:srgbClr val="F8FAFC"/>
                </a:solidFill>
                <a:latin typeface="Arial"/>
                <a:ea typeface="Arial"/>
                <a:cs typeface="Arial"/>
              </a:rPr>
              <a:t>Kiểm tra giao diện, hình ảnh và caption.</a:t>
            </a:r>
            <a:endParaRPr lang="vi-VN" sz="1400"/>
          </a:p>
        </p:txBody>
      </p:sp>
      <p:sp>
        <p:nvSpPr>
          <p:cNvPr id="16" name="Shape"/>
          <p:cNvSpPr/>
          <p:nvPr/>
        </p:nvSpPr>
        <p:spPr>
          <a:xfrm>
            <a:off x="6327648" y="3703320"/>
            <a:ext cx="5074920" cy="1417320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17" name="Pill"/>
          <p:cNvSpPr txBox="1"/>
          <p:nvPr/>
        </p:nvSpPr>
        <p:spPr>
          <a:xfrm>
            <a:off x="6601968" y="3959352"/>
            <a:ext cx="1536192" cy="310896"/>
          </a:xfrm>
          <a:prstGeom prst="roundRect">
            <a:avLst/>
          </a:prstGeom>
          <a:solidFill>
            <a:srgbClr val="F6C453"/>
          </a:solidFill>
          <a:ln>
            <a:noFill/>
          </a:ln>
        </p:spPr>
        <p:txBody>
          <a:bodyPr wrap="square" anchor="mid" lIns="36576" tIns="36576" rIns="36576" bIns="36576">
            <a:normAutofit fontScale="85000" lnSpcReduction="15000"/>
          </a:bodyPr>
          <a:lstStyle/>
          <a:p>
            <a:pPr algn="ctr"/>
            <a:r>
              <a:rPr lang="vi-VN" sz="93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TRÌNH BÀY</a:t>
            </a:r>
            <a:endParaRPr lang="vi-VN" sz="930"/>
          </a:p>
        </p:txBody>
      </p:sp>
      <p:sp>
        <p:nvSpPr>
          <p:cNvPr id="18" name="Text"/>
          <p:cNvSpPr txBox="1"/>
          <p:nvPr/>
        </p:nvSpPr>
        <p:spPr>
          <a:xfrm>
            <a:off x="6601968" y="4379976"/>
            <a:ext cx="44439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400">
                <a:solidFill>
                  <a:srgbClr val="F8FAFC"/>
                </a:solidFill>
                <a:latin typeface="Arial"/>
                <a:ea typeface="Arial"/>
                <a:cs typeface="Arial"/>
              </a:rPr>
              <a:t>Chỉnh slide bảo vệ; rà soát mục lục, danh mục hình/bảng.</a:t>
            </a:r>
            <a:endParaRPr lang="vi-VN" sz="1400"/>
          </a:p>
        </p:txBody>
      </p:sp>
      <p:sp>
        <p:nvSpPr>
          <p:cNvPr id="19" name="Shape"/>
          <p:cNvSpPr/>
          <p:nvPr/>
        </p:nvSpPr>
        <p:spPr>
          <a:xfrm>
            <a:off x="5440680" y="3044952"/>
            <a:ext cx="1298448" cy="502920"/>
          </a:xfrm>
          <a:prstGeom prst="round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5559552" y="3172968"/>
            <a:ext cx="1060704" cy="155448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95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ĐANG LÀM</a:t>
            </a:r>
            <a:endParaRPr lang="vi-VN" sz="950"/>
          </a:p>
        </p:txBody>
      </p:sp>
      <p:sp>
        <p:nvSpPr>
          <p:cNvPr id="21" name="Text"/>
          <p:cNvSpPr txBox="1"/>
          <p:nvPr/>
        </p:nvSpPr>
        <p:spPr>
          <a:xfrm>
            <a:off x="786384" y="5797296"/>
            <a:ext cx="98755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280">
                <a:solidFill>
                  <a:srgbClr val="B9D7DA"/>
                </a:solidFill>
                <a:latin typeface="Arial"/>
                <a:ea typeface="Arial"/>
                <a:cs typeface="Arial"/>
              </a:rPr>
              <a:t>Ưu tiên hiện tại: hoàn thiện nội dung kiểm thử và giảm lỗi trình bày trước khi bảo vệ.</a:t>
            </a:r>
            <a:endParaRPr lang="vi-VN" sz="128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ế hoạch 1-2 tuần tới">
    <p:bg>
      <p:bgPr>
        <a:solidFill>
          <a:srgbClr val="06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58368" y="31089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85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BÁO CÁO TIẾN ĐỘ ĐATN</a:t>
            </a:r>
            <a:endParaRPr lang="vi-VN" sz="850"/>
          </a:p>
        </p:txBody>
      </p:sp>
      <p:sp>
        <p:nvSpPr>
          <p:cNvPr id="4" name="Slide Title"/>
          <p:cNvSpPr txBox="1"/>
          <p:nvPr/>
        </p:nvSpPr>
        <p:spPr>
          <a:xfrm>
            <a:off x="640080" y="621792"/>
            <a:ext cx="7955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25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Kế hoạch 1-2 tuần tới</a:t>
            </a:r>
            <a:endParaRPr lang="vi-VN" sz="2500"/>
          </a:p>
        </p:txBody>
      </p:sp>
      <p:sp>
        <p:nvSpPr>
          <p:cNvPr id="5" name="Slide Number"/>
          <p:cNvSpPr txBox="1"/>
          <p:nvPr/>
        </p:nvSpPr>
        <p:spPr>
          <a:xfrm>
            <a:off x="10771632" y="329184"/>
            <a:ext cx="658368" cy="310896"/>
          </a:xfrm>
          <a:prstGeom prst="roundRect">
            <a:avLst/>
          </a:prstGeom>
          <a:solidFill>
            <a:srgbClr val="052D32"/>
          </a:solidFill>
          <a:ln w="12700">
            <a:solidFill>
              <a:srgbClr val="22D3C5"/>
            </a:solidFill>
          </a:ln>
        </p:spPr>
        <p:txBody>
          <a:bodyPr wrap="square" anchor="mid" lIns="18288" tIns="18288" rIns="18288" bIns="18288">
            <a:normAutofit fontScale="85000" lnSpcReduction="15000"/>
          </a:bodyPr>
          <a:lstStyle/>
          <a:p>
            <a:pPr algn="ctr"/>
            <a:r>
              <a:rPr lang="vi-VN" sz="13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05</a:t>
            </a:r>
            <a:endParaRPr lang="vi-VN" sz="1300"/>
          </a:p>
        </p:txBody>
      </p:sp>
      <p:sp>
        <p:nvSpPr>
          <p:cNvPr id="6" name="Title Rule"/>
          <p:cNvSpPr/>
          <p:nvPr/>
        </p:nvSpPr>
        <p:spPr>
          <a:xfrm>
            <a:off x="640080" y="1170432"/>
            <a:ext cx="1143000" cy="41148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7" name="Shape"/>
          <p:cNvSpPr/>
          <p:nvPr/>
        </p:nvSpPr>
        <p:spPr>
          <a:xfrm>
            <a:off x="1051560" y="1975104"/>
            <a:ext cx="10104120" cy="50292"/>
          </a:xfrm>
          <a:prstGeom prst="rect">
            <a:avLst/>
          </a:prstGeom>
          <a:solidFill>
            <a:srgbClr val="22D3C5"/>
          </a:solidFill>
          <a:ln>
            <a:noFill/>
          </a:ln>
        </p:spPr>
      </p:sp>
      <p:sp>
        <p:nvSpPr>
          <p:cNvPr id="8" name="Shape"/>
          <p:cNvSpPr/>
          <p:nvPr/>
        </p:nvSpPr>
        <p:spPr>
          <a:xfrm>
            <a:off x="3246120" y="1764792"/>
            <a:ext cx="457200" cy="457200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9" name="Text"/>
          <p:cNvSpPr txBox="1"/>
          <p:nvPr/>
        </p:nvSpPr>
        <p:spPr>
          <a:xfrm>
            <a:off x="3364992" y="1865376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10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1</a:t>
            </a:r>
            <a:endParaRPr lang="vi-VN" sz="1100"/>
          </a:p>
        </p:txBody>
      </p:sp>
      <p:sp>
        <p:nvSpPr>
          <p:cNvPr id="10" name="Shape"/>
          <p:cNvSpPr/>
          <p:nvPr/>
        </p:nvSpPr>
        <p:spPr>
          <a:xfrm>
            <a:off x="8549640" y="1764792"/>
            <a:ext cx="457200" cy="457200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1" name="Text"/>
          <p:cNvSpPr txBox="1"/>
          <p:nvPr/>
        </p:nvSpPr>
        <p:spPr>
          <a:xfrm>
            <a:off x="8668512" y="1865376"/>
            <a:ext cx="219456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100" b="1">
                <a:solidFill>
                  <a:srgbClr val="08353A"/>
                </a:solidFill>
                <a:latin typeface="Arial"/>
                <a:ea typeface="Arial"/>
                <a:cs typeface="Arial"/>
              </a:rPr>
              <a:t>2</a:t>
            </a:r>
            <a:endParaRPr lang="vi-VN" sz="1100"/>
          </a:p>
        </p:txBody>
      </p:sp>
      <p:sp>
        <p:nvSpPr>
          <p:cNvPr id="12" name="Shape"/>
          <p:cNvSpPr/>
          <p:nvPr/>
        </p:nvSpPr>
        <p:spPr>
          <a:xfrm>
            <a:off x="868680" y="2487168"/>
            <a:ext cx="5074920" cy="3063240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13" name="Text"/>
          <p:cNvSpPr txBox="1"/>
          <p:nvPr/>
        </p:nvSpPr>
        <p:spPr>
          <a:xfrm>
            <a:off x="1143000" y="27157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9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Tuần 1</a:t>
            </a:r>
            <a:endParaRPr lang="vi-VN" sz="1900"/>
          </a:p>
        </p:txBody>
      </p:sp>
      <p:sp>
        <p:nvSpPr>
          <p:cNvPr id="14" name="Bullet"/>
          <p:cNvSpPr/>
          <p:nvPr/>
        </p:nvSpPr>
        <p:spPr>
          <a:xfrm>
            <a:off x="1188720" y="3401568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5" name="Bullet Text"/>
          <p:cNvSpPr txBox="1"/>
          <p:nvPr/>
        </p:nvSpPr>
        <p:spPr>
          <a:xfrm>
            <a:off x="1389888" y="3291840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400">
                <a:solidFill>
                  <a:srgbClr val="F8FAFC"/>
                </a:solidFill>
                <a:latin typeface="Arial"/>
                <a:ea typeface="Arial"/>
                <a:cs typeface="Arial"/>
              </a:rPr>
              <a:t>Hoàn thiện Chương 3.</a:t>
            </a:r>
            <a:endParaRPr lang="vi-VN" sz="1400"/>
          </a:p>
        </p:txBody>
      </p:sp>
      <p:sp>
        <p:nvSpPr>
          <p:cNvPr id="16" name="Bullet"/>
          <p:cNvSpPr/>
          <p:nvPr/>
        </p:nvSpPr>
        <p:spPr>
          <a:xfrm>
            <a:off x="1188720" y="3931920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7" name="Bullet Text"/>
          <p:cNvSpPr txBox="1"/>
          <p:nvPr/>
        </p:nvSpPr>
        <p:spPr>
          <a:xfrm>
            <a:off x="1389888" y="3822192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400">
                <a:solidFill>
                  <a:srgbClr val="F8FAFC"/>
                </a:solidFill>
                <a:latin typeface="Arial"/>
                <a:ea typeface="Arial"/>
                <a:cs typeface="Arial"/>
              </a:rPr>
              <a:t>Kiểm thử các chức năng chính.</a:t>
            </a:r>
            <a:endParaRPr lang="vi-VN" sz="1400"/>
          </a:p>
        </p:txBody>
      </p:sp>
      <p:sp>
        <p:nvSpPr>
          <p:cNvPr id="18" name="Bullet"/>
          <p:cNvSpPr/>
          <p:nvPr/>
        </p:nvSpPr>
        <p:spPr>
          <a:xfrm>
            <a:off x="1188720" y="4462272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19" name="Bullet Text"/>
          <p:cNvSpPr txBox="1"/>
          <p:nvPr/>
        </p:nvSpPr>
        <p:spPr>
          <a:xfrm>
            <a:off x="1389888" y="4352544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400">
                <a:solidFill>
                  <a:srgbClr val="F8FAFC"/>
                </a:solidFill>
                <a:latin typeface="Arial"/>
                <a:ea typeface="Arial"/>
                <a:cs typeface="Arial"/>
              </a:rPr>
              <a:t>Hoàn thiện hình ảnh, sơ đồ, bảng biểu.</a:t>
            </a:r>
            <a:endParaRPr lang="vi-VN" sz="1400"/>
          </a:p>
        </p:txBody>
      </p:sp>
      <p:sp>
        <p:nvSpPr>
          <p:cNvPr id="20" name="Shape"/>
          <p:cNvSpPr/>
          <p:nvPr/>
        </p:nvSpPr>
        <p:spPr>
          <a:xfrm>
            <a:off x="6263640" y="2487168"/>
            <a:ext cx="5074920" cy="3063240"/>
          </a:xfrm>
          <a:prstGeom prst="roundRect">
            <a:avLst/>
          </a:prstGeom>
          <a:solidFill>
            <a:srgbClr val="0A4B52"/>
          </a:solidFill>
          <a:ln w="8890">
            <a:solidFill>
              <a:srgbClr val="22D3C5"/>
            </a:solidFill>
          </a:ln>
        </p:spPr>
      </p:sp>
      <p:sp>
        <p:nvSpPr>
          <p:cNvPr id="21" name="Text"/>
          <p:cNvSpPr txBox="1"/>
          <p:nvPr/>
        </p:nvSpPr>
        <p:spPr>
          <a:xfrm>
            <a:off x="6537960" y="27157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9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Tuần 2</a:t>
            </a:r>
            <a:endParaRPr lang="vi-VN" sz="1900"/>
          </a:p>
        </p:txBody>
      </p:sp>
      <p:sp>
        <p:nvSpPr>
          <p:cNvPr id="22" name="Bullet"/>
          <p:cNvSpPr/>
          <p:nvPr/>
        </p:nvSpPr>
        <p:spPr>
          <a:xfrm>
            <a:off x="6583680" y="3355848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3" name="Bullet Text"/>
          <p:cNvSpPr txBox="1"/>
          <p:nvPr/>
        </p:nvSpPr>
        <p:spPr>
          <a:xfrm>
            <a:off x="6784848" y="3246120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360">
                <a:solidFill>
                  <a:srgbClr val="F8FAFC"/>
                </a:solidFill>
                <a:latin typeface="Arial"/>
                <a:ea typeface="Arial"/>
                <a:cs typeface="Arial"/>
              </a:rPr>
              <a:t>Viết kết luận và hướng phát triển.</a:t>
            </a:r>
            <a:endParaRPr lang="vi-VN" sz="1360"/>
          </a:p>
        </p:txBody>
      </p:sp>
      <p:sp>
        <p:nvSpPr>
          <p:cNvPr id="24" name="Bullet"/>
          <p:cNvSpPr/>
          <p:nvPr/>
        </p:nvSpPr>
        <p:spPr>
          <a:xfrm>
            <a:off x="6583680" y="3831336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5" name="Bullet Text"/>
          <p:cNvSpPr txBox="1"/>
          <p:nvPr/>
        </p:nvSpPr>
        <p:spPr>
          <a:xfrm>
            <a:off x="6784848" y="3721608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360">
                <a:solidFill>
                  <a:srgbClr val="F8FAFC"/>
                </a:solidFill>
                <a:latin typeface="Arial"/>
                <a:ea typeface="Arial"/>
                <a:cs typeface="Arial"/>
              </a:rPr>
              <a:t>Hoàn thiện slide thuyết trình.</a:t>
            </a:r>
            <a:endParaRPr lang="vi-VN" sz="1360"/>
          </a:p>
        </p:txBody>
      </p:sp>
      <p:sp>
        <p:nvSpPr>
          <p:cNvPr id="26" name="Bullet"/>
          <p:cNvSpPr/>
          <p:nvPr/>
        </p:nvSpPr>
        <p:spPr>
          <a:xfrm>
            <a:off x="6583680" y="4306824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7" name="Bullet Text"/>
          <p:cNvSpPr txBox="1"/>
          <p:nvPr/>
        </p:nvSpPr>
        <p:spPr>
          <a:xfrm>
            <a:off x="6784848" y="4197096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360">
                <a:solidFill>
                  <a:srgbClr val="F8FAFC"/>
                </a:solidFill>
                <a:latin typeface="Arial"/>
                <a:ea typeface="Arial"/>
                <a:cs typeface="Arial"/>
              </a:rPr>
              <a:t>Rà soát toàn bộ báo cáo.</a:t>
            </a:r>
            <a:endParaRPr lang="vi-VN" sz="1360"/>
          </a:p>
        </p:txBody>
      </p:sp>
      <p:sp>
        <p:nvSpPr>
          <p:cNvPr id="28" name="Bullet"/>
          <p:cNvSpPr/>
          <p:nvPr/>
        </p:nvSpPr>
        <p:spPr>
          <a:xfrm>
            <a:off x="6583680" y="4782312"/>
            <a:ext cx="82296" cy="82296"/>
          </a:xfrm>
          <a:prstGeom prst="ellipse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29" name="Bullet Text"/>
          <p:cNvSpPr txBox="1"/>
          <p:nvPr/>
        </p:nvSpPr>
        <p:spPr>
          <a:xfrm>
            <a:off x="6784848" y="4672584"/>
            <a:ext cx="4069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1360">
                <a:solidFill>
                  <a:srgbClr val="F8FAFC"/>
                </a:solidFill>
                <a:latin typeface="Arial"/>
                <a:ea typeface="Arial"/>
                <a:cs typeface="Arial"/>
              </a:rPr>
              <a:t>Chuẩn bị demo và nội dung bảo vệ.</a:t>
            </a:r>
            <a:endParaRPr lang="vi-VN" sz="136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ảm ơn">
    <p:bg>
      <p:bgPr>
        <a:solidFill>
          <a:srgbClr val="06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63B"/>
          </a:solidFill>
          <a:ln>
            <a:noFill/>
          </a:ln>
        </p:spPr>
      </p:sp>
      <p:sp>
        <p:nvSpPr>
          <p:cNvPr id="3" name="Shape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4" name="Text"/>
          <p:cNvSpPr txBox="1"/>
          <p:nvPr/>
        </p:nvSpPr>
        <p:spPr>
          <a:xfrm>
            <a:off x="777240" y="42062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l"/>
            <a:r>
              <a:rPr lang="vi-VN" sz="9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BÁO CÁO TIẾN ĐỘ ĐATN</a:t>
            </a:r>
            <a:endParaRPr lang="vi-VN" sz="900"/>
          </a:p>
        </p:txBody>
      </p:sp>
      <p:sp>
        <p:nvSpPr>
          <p:cNvPr id="5" name="Shape"/>
          <p:cNvSpPr/>
          <p:nvPr/>
        </p:nvSpPr>
        <p:spPr>
          <a:xfrm>
            <a:off x="1005840" y="1371600"/>
            <a:ext cx="10195560" cy="4160520"/>
          </a:xfrm>
          <a:prstGeom prst="roundRect">
            <a:avLst/>
          </a:prstGeom>
          <a:solidFill>
            <a:srgbClr val="052D32"/>
          </a:solidFill>
          <a:ln w="10160">
            <a:solidFill>
              <a:srgbClr val="22D3C5"/>
            </a:solidFill>
          </a:ln>
        </p:spPr>
      </p:sp>
      <p:sp>
        <p:nvSpPr>
          <p:cNvPr id="6" name="Text"/>
          <p:cNvSpPr txBox="1"/>
          <p:nvPr/>
        </p:nvSpPr>
        <p:spPr>
          <a:xfrm>
            <a:off x="1508760" y="2084832"/>
            <a:ext cx="91897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36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Em xin chân thành cảm ơn!</a:t>
            </a:r>
            <a:endParaRPr lang="vi-VN" sz="3600"/>
          </a:p>
        </p:txBody>
      </p:sp>
      <p:sp>
        <p:nvSpPr>
          <p:cNvPr id="7" name="Shape"/>
          <p:cNvSpPr/>
          <p:nvPr/>
        </p:nvSpPr>
        <p:spPr>
          <a:xfrm>
            <a:off x="4434840" y="3127248"/>
            <a:ext cx="3337560" cy="50292"/>
          </a:xfrm>
          <a:prstGeom prst="rect">
            <a:avLst/>
          </a:prstGeom>
          <a:solidFill>
            <a:srgbClr val="F6C453"/>
          </a:solidFill>
          <a:ln>
            <a:noFill/>
          </a:ln>
        </p:spPr>
      </p:sp>
      <p:sp>
        <p:nvSpPr>
          <p:cNvPr id="8" name="Text"/>
          <p:cNvSpPr txBox="1"/>
          <p:nvPr/>
        </p:nvSpPr>
        <p:spPr>
          <a:xfrm>
            <a:off x="1993392" y="350215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1800">
                <a:solidFill>
                  <a:srgbClr val="B9D7DA"/>
                </a:solidFill>
                <a:latin typeface="Arial"/>
                <a:ea typeface="Arial"/>
                <a:cs typeface="Arial"/>
              </a:rPr>
              <a:t>Kính mong thầy/cô góp ý để em tiếp tục hoàn thiện đề tài.</a:t>
            </a:r>
            <a:endParaRPr lang="vi-VN" sz="1800"/>
          </a:p>
        </p:txBody>
      </p:sp>
      <p:sp>
        <p:nvSpPr>
          <p:cNvPr id="9" name="Text"/>
          <p:cNvSpPr txBox="1"/>
          <p:nvPr/>
        </p:nvSpPr>
        <p:spPr>
          <a:xfrm>
            <a:off x="4828032" y="4407408"/>
            <a:ext cx="2523744" cy="54864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normAutofit fontScale="85000" lnSpcReduction="15000"/>
          </a:bodyPr>
          <a:lstStyle/>
          <a:p>
            <a:pPr algn="ctr"/>
            <a:r>
              <a:rPr lang="vi-VN" sz="2800" b="1">
                <a:solidFill>
                  <a:srgbClr val="F6C453"/>
                </a:solidFill>
                <a:latin typeface="Arial"/>
                <a:ea typeface="Arial"/>
                <a:cs typeface="Arial"/>
              </a:rPr>
              <a:t>Q&amp;A</a:t>
            </a:r>
            <a:endParaRPr lang="vi-VN" sz="2800"/>
          </a:p>
        </p:txBody>
      </p:sp>
      <p:sp>
        <p:nvSpPr>
          <p:cNvPr id="10" name="Shape"/>
          <p:cNvSpPr/>
          <p:nvPr/>
        </p:nvSpPr>
        <p:spPr>
          <a:xfrm>
            <a:off x="4828032" y="5870448"/>
            <a:ext cx="2542032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1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52" y="6007608"/>
            <a:ext cx="536895" cy="292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N Teal">
  <a:themeElements>
    <a:clrScheme name="DATN Teal">
      <a:dk1>
        <a:srgbClr val="052D32"/>
      </a:dk1>
      <a:lt1>
        <a:srgbClr val="F8FAFC"/>
      </a:lt1>
      <a:dk2>
        <a:srgbClr val="06363B"/>
      </a:dk2>
      <a:lt2>
        <a:srgbClr val="B9D7DA"/>
      </a:lt2>
      <a:accent1>
        <a:srgbClr val="22D3C5"/>
      </a:accent1>
      <a:accent2>
        <a:srgbClr val="F6C453"/>
      </a:accent2>
      <a:accent3>
        <a:srgbClr val="0E5D63"/>
      </a:accent3>
      <a:accent4>
        <a:srgbClr val="0A4B52"/>
      </a:accent4>
      <a:accent5>
        <a:srgbClr val="FFFFFF"/>
      </a:accent5>
      <a:accent6>
        <a:srgbClr val="08353A"/>
      </a:accent6>
      <a:hlink>
        <a:srgbClr val="22D3C5"/>
      </a:hlink>
      <a:folHlink>
        <a:srgbClr val="F6C453"/>
      </a:folHlink>
    </a:clrScheme>
    <a:fontScheme name="Arial Vietnames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lean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>
                <a:tint val="50000"/>
              </a:schemeClr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9050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6</vt:i4>
      </vt:variant>
    </vt:vector>
  </HeadingPairs>
  <TitlesOfParts>
    <vt:vector size="6" baseType="lpstr">
      <vt:lpstr>Trang bìa</vt:lpstr>
      <vt:lpstr>Mục tiêu</vt:lpstr>
      <vt:lpstr>Đã làm</vt:lpstr>
      <vt:lpstr>Đang làm</vt:lpstr>
      <vt:lpstr>Kế hoạch</vt:lpstr>
      <vt:lpstr>Cảm ơn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slide_bao_cao_tien_do_DATN</dc:title>
  <dc:subject>Báo cáo tiến độ đồ án tốt nghiệp</dc:subject>
  <dc:creator>Codex</dc:creator>
  <cp:keywords>DATN; Laravel; ecommerce; tiến độ</cp:keywords>
  <dcterms:created xsi:type="dcterms:W3CDTF">2026-05-05T14:11:56Z</dcterms:created>
  <dcterms:modified xsi:type="dcterms:W3CDTF">2026-05-05T14:11:56Z</dcterms:modified>
</cp:coreProperties>
</file>