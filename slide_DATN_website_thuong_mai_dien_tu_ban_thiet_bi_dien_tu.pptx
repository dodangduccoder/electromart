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830" r:id="rId4"/>
  </p:sldMasterIdLst>
  <p:notesMasterIdLst>
    <p:notesMasterId r:id="rId21"/>
  </p:notesMasterIdLst>
  <p:sldIdLst>
    <p:sldId id="256" r:id="rId5"/>
    <p:sldId id="277" r:id="rId6"/>
    <p:sldId id="279" r:id="rId7"/>
    <p:sldId id="292" r:id="rId8"/>
    <p:sldId id="291" r:id="rId9"/>
    <p:sldId id="290" r:id="rId10"/>
    <p:sldId id="289" r:id="rId11"/>
    <p:sldId id="288" r:id="rId12"/>
    <p:sldId id="287" r:id="rId13"/>
    <p:sldId id="286" r:id="rId14"/>
    <p:sldId id="285" r:id="rId15"/>
    <p:sldId id="284" r:id="rId16"/>
    <p:sldId id="283" r:id="rId17"/>
    <p:sldId id="280" r:id="rId18"/>
    <p:sldId id="282" r:id="rId19"/>
    <p:sldId id="281" r:id="rId2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Duc Hoang" initials="DH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6FDFF"/>
    <a:srgbClr val="B7CBCD"/>
    <a:srgbClr val="FF0000"/>
    <a:srgbClr val="30A383"/>
    <a:srgbClr val="1481B8"/>
    <a:srgbClr val="D6E1E2"/>
    <a:srgbClr val="30A484"/>
    <a:srgbClr val="1F52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63C004-35FC-4974-988D-72C4F45302A2}" v="4" dt="2024-05-22T14:03:10.9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88330" autoAdjust="0"/>
  </p:normalViewPr>
  <p:slideViewPr>
    <p:cSldViewPr>
      <p:cViewPr varScale="1">
        <p:scale>
          <a:sx n="97" d="100"/>
          <a:sy n="97" d="100"/>
        </p:scale>
        <p:origin x="37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commentAuthors" Target="commentAuthors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DE437-CB40-417D-AC35-4A7E5D913317}" type="datetimeFigureOut">
              <a:rPr lang="en-GB" smtClean="0"/>
              <a:t>05/05/2026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A99E3-C20F-455C-83E5-A8FDD3319EF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085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F95ED8-7807-40AF-95AA-C805AF1ED7E0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46180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1A99E3-C20F-455C-83E5-A8FDD3319EFE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312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1200"/>
            </a:lvl1pPr>
          </a:lstStyle>
          <a:p>
            <a:fld id="{7855289C-09C2-4FA6-9DE7-15D89A7144DF}" type="datetime1">
              <a:rPr lang="vi-VN" smtClean="0"/>
              <a:t>05/05/2026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200"/>
            </a:lvl1pPr>
          </a:lstStyle>
          <a:p>
            <a:r>
              <a:rPr lang="en-US" dirty="0" err="1"/>
              <a:t>ĐATN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CNPM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0" y="6515079"/>
            <a:ext cx="511057" cy="26673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7501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91746" cy="1400530"/>
          </a:xfrm>
        </p:spPr>
        <p:txBody>
          <a:bodyPr/>
          <a:lstStyle>
            <a:lvl1pPr>
              <a:defRPr sz="32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2052925"/>
            <a:ext cx="8191746" cy="4195481"/>
          </a:xfrm>
        </p:spPr>
        <p:txBody>
          <a:bodyPr/>
          <a:lstStyle>
            <a:lvl1pPr>
              <a:defRPr sz="3200"/>
            </a:lvl1pPr>
            <a:lvl2pPr marL="457200">
              <a:defRPr sz="2800"/>
            </a:lvl2pPr>
            <a:lvl3pPr marL="640080">
              <a:defRPr sz="2600"/>
            </a:lvl3pPr>
            <a:lvl4pPr marL="914400">
              <a:defRPr sz="2400"/>
            </a:lvl4pPr>
            <a:lvl5pPr marL="1188720"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2"/>
          <p:cNvSpPr>
            <a:spLocks noGrp="1"/>
          </p:cNvSpPr>
          <p:nvPr>
            <p:ph type="dt" sz="half" idx="10"/>
          </p:nvPr>
        </p:nvSpPr>
        <p:spPr>
          <a:xfrm>
            <a:off x="7956376" y="6476970"/>
            <a:ext cx="1134285" cy="266739"/>
          </a:xfrm>
        </p:spPr>
        <p:txBody>
          <a:bodyPr/>
          <a:lstStyle/>
          <a:p>
            <a:fld id="{3BD01B09-9BFA-4E25-B6F7-A45121277496}" type="datetime1">
              <a:rPr lang="vi-VN" smtClean="0"/>
              <a:t>05/05/2026</a:t>
            </a:fld>
            <a:endParaRPr lang="en-US" dirty="0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1614" y="6515049"/>
            <a:ext cx="3859795" cy="228660"/>
          </a:xfrm>
        </p:spPr>
        <p:txBody>
          <a:bodyPr/>
          <a:lstStyle/>
          <a:p>
            <a:r>
              <a:rPr lang="en-US"/>
              <a:t>ĐATN CHUYÊN NGÀNH CNPM</a:t>
            </a: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0" y="6515079"/>
            <a:ext cx="511057" cy="26673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-459432"/>
            <a:ext cx="201716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465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91746" cy="672026"/>
          </a:xfrm>
        </p:spPr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43A4BE-6657-4382-B365-D7D11ABF647C}" type="datetime1">
              <a:rPr lang="vi-VN" smtClean="0"/>
              <a:t>05/05/2026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ĐATN CHUYÊN NGÀNH CNPM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572000" y="6515079"/>
            <a:ext cx="511057" cy="26673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-459432"/>
            <a:ext cx="201716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71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7D00D-E689-41A8-94DE-0AE5FDCE360B}" type="datetime1">
              <a:rPr lang="vi-VN" smtClean="0"/>
              <a:t>05/05/2026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ĐATN CHUYÊN NGÀNH CNPM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-459432"/>
            <a:ext cx="201716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197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-459432"/>
            <a:ext cx="201716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879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191746" cy="6902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4710" y="1412777"/>
            <a:ext cx="8191746" cy="48356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56376" y="6476970"/>
            <a:ext cx="1134285" cy="26673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27F032A-4D12-4362-8B1C-673C2DC6E831}" type="datetime1">
              <a:rPr lang="vi-VN" smtClean="0"/>
              <a:t>05/05/2026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614" y="6515049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r>
              <a:rPr lang="en-US" dirty="0" err="1"/>
              <a:t>ĐATN</a:t>
            </a:r>
            <a:r>
              <a:rPr lang="en-US" dirty="0"/>
              <a:t> </a:t>
            </a:r>
            <a:r>
              <a:rPr lang="en-US" dirty="0" err="1"/>
              <a:t>CHUYÊN</a:t>
            </a:r>
            <a:r>
              <a:rPr lang="en-US" dirty="0"/>
              <a:t> </a:t>
            </a:r>
            <a:r>
              <a:rPr lang="en-US" dirty="0" err="1"/>
              <a:t>NGÀNH</a:t>
            </a:r>
            <a:r>
              <a:rPr lang="en-US" dirty="0"/>
              <a:t> </a:t>
            </a:r>
            <a:r>
              <a:rPr lang="en-US" dirty="0" err="1"/>
              <a:t>CNPM</a:t>
            </a:r>
            <a:endParaRPr lang="en-US" dirty="0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0" y="6515079"/>
            <a:ext cx="511057" cy="26673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4328" y="-459432"/>
            <a:ext cx="2017163" cy="2016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380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6" r:id="rId3"/>
    <p:sldLayoutId id="2147483838" r:id="rId4"/>
    <p:sldLayoutId id="2147483837" r:id="rId5"/>
  </p:sldLayoutIdLst>
  <p:hf hdr="0"/>
  <p:txStyles>
    <p:titleStyle>
      <a:lvl1pPr algn="l" defTabSz="457207" rtl="0" eaLnBrk="1" latinLnBrk="0" hangingPunct="1">
        <a:spcBef>
          <a:spcPct val="0"/>
        </a:spcBef>
        <a:buNone/>
        <a:defRPr sz="3200" b="0" i="0" kern="1200" cap="all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F1278B26-768F-D083-F501-69C9997A5E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7AB8C44-460C-3881-B2A5-4C50F8153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99EA223-D3B3-FECA-6593-6E89D5CB0275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77800"/>
            <a:ext cx="990600" cy="35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B0455D6-8697-14D2-C147-9C96EB09968F}"/>
              </a:ext>
            </a:extLst>
          </p:cNvPr>
          <p:cNvSpPr txBox="1"/>
          <p:nvPr/>
        </p:nvSpPr>
        <p:spPr>
          <a:xfrm>
            <a:off x="1016000" y="304800"/>
            <a:ext cx="7112000" cy="492443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200" b="1">
                <a:solidFill>
                  <a:srgbClr val="FFFFFF"/>
                </a:solidFill>
                <a:latin typeface="Arial" panose="020B0604020202020204" pitchFamily="34" charset="0"/>
              </a:rPr>
              <a:t>KHOA CÔNG NGHỆ THÔNG TIN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D4016C-7965-E7B1-E78E-0559200114CE}"/>
              </a:ext>
            </a:extLst>
          </p:cNvPr>
          <p:cNvSpPr txBox="1"/>
          <p:nvPr/>
        </p:nvSpPr>
        <p:spPr>
          <a:xfrm>
            <a:off x="1016000" y="685800"/>
            <a:ext cx="7112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</a:rPr>
              <a:t>BỘ MÔN CÔNG NGHỆ PHẦN MỀM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573B76-795F-0CB6-4DC4-505AE215074A}"/>
              </a:ext>
            </a:extLst>
          </p:cNvPr>
          <p:cNvSpPr/>
          <p:nvPr/>
        </p:nvSpPr>
        <p:spPr>
          <a:xfrm>
            <a:off x="0" y="2336800"/>
            <a:ext cx="9144000" cy="1473200"/>
          </a:xfrm>
          <a:prstGeom prst="rect">
            <a:avLst/>
          </a:prstGeom>
          <a:solidFill>
            <a:srgbClr val="082D38">
              <a:alpha val="92000"/>
            </a:srgbClr>
          </a:solidFill>
          <a:ln w="19050" cap="rnd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 cap="rnd" cmpd="sng" algn="ctr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C7C146-B404-1D82-AEEF-948FCA9CBB93}"/>
              </a:ext>
            </a:extLst>
          </p:cNvPr>
          <p:cNvSpPr txBox="1"/>
          <p:nvPr/>
        </p:nvSpPr>
        <p:spPr>
          <a:xfrm>
            <a:off x="736600" y="2463800"/>
            <a:ext cx="7670800" cy="144655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800" b="1">
                <a:solidFill>
                  <a:srgbClr val="FFD650"/>
                </a:solidFill>
                <a:latin typeface="Arial" panose="020B0604020202020204" pitchFamily="34" charset="0"/>
              </a:rPr>
              <a:t>XÂY DỰNG WEBSITE THƯƠNG MẠI ĐIỆN TỬ
BÁN THIẾT BỊ ĐIỆN TỬ</a:t>
            </a:r>
            <a:endParaRPr lang="en-US" sz="28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C80301-DC73-E5BB-26A0-EC55EDDBE549}"/>
              </a:ext>
            </a:extLst>
          </p:cNvPr>
          <p:cNvSpPr txBox="1"/>
          <p:nvPr/>
        </p:nvSpPr>
        <p:spPr>
          <a:xfrm>
            <a:off x="1092200" y="4851400"/>
            <a:ext cx="7112000" cy="138499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000">
                <a:solidFill>
                  <a:srgbClr val="FFFFFF"/>
                </a:solidFill>
                <a:latin typeface="Arial" panose="020B0604020202020204" pitchFamily="34" charset="0"/>
              </a:rPr>
              <a:t>Sinh viên thực hiện: [Điền họ tên sinh viên]
MSSV: [Điền MSSV]
Giáo viên hướng dẫn: [Điền tên GVHD]
Ngày trình bày: [Điền ngày]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2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3" name="Title 32">
            <a:extLst>
              <a:ext uri="{FF2B5EF4-FFF2-40B4-BE49-F238E27FC236}">
                <a16:creationId xmlns:a16="http://schemas.microsoft.com/office/drawing/2014/main" id="{ED65D5A0-DA3C-D5D9-2EE8-6A20EB175C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D16A08A-493B-1830-774E-F571BAB51CF1}"/>
              </a:ext>
            </a:extLst>
          </p:cNvPr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77800"/>
            <a:ext cx="990600" cy="35560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B460AB3A-A9D1-8DA6-DE4A-3CEFAB38F9EA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Nội dung trình bày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E1B0116-5313-4096-7004-468E569D0E5D}"/>
              </a:ext>
            </a:extLst>
          </p:cNvPr>
          <p:cNvSpPr/>
          <p:nvPr/>
        </p:nvSpPr>
        <p:spPr>
          <a:xfrm>
            <a:off x="914400" y="1295400"/>
            <a:ext cx="7289800" cy="6604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E0478D6-C709-5D05-9AD2-643F8457DA15}"/>
              </a:ext>
            </a:extLst>
          </p:cNvPr>
          <p:cNvSpPr txBox="1"/>
          <p:nvPr/>
        </p:nvSpPr>
        <p:spPr>
          <a:xfrm>
            <a:off x="1041400" y="1397000"/>
            <a:ext cx="70358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01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CC43346-B80E-2CFB-84EE-318E777B1E21}"/>
              </a:ext>
            </a:extLst>
          </p:cNvPr>
          <p:cNvSpPr txBox="1"/>
          <p:nvPr/>
        </p:nvSpPr>
        <p:spPr>
          <a:xfrm>
            <a:off x="1041400" y="1778000"/>
            <a:ext cx="7035800" cy="43088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1. Giới thiệu đề tài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BA50874-1C4B-DBC5-A396-E1E07C2BC4A3}"/>
              </a:ext>
            </a:extLst>
          </p:cNvPr>
          <p:cNvSpPr/>
          <p:nvPr/>
        </p:nvSpPr>
        <p:spPr>
          <a:xfrm>
            <a:off x="914400" y="2209800"/>
            <a:ext cx="7289800" cy="6604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65225E0-DE1E-4D42-9937-F025A495EB63}"/>
              </a:ext>
            </a:extLst>
          </p:cNvPr>
          <p:cNvSpPr txBox="1"/>
          <p:nvPr/>
        </p:nvSpPr>
        <p:spPr>
          <a:xfrm>
            <a:off x="1041400" y="2311400"/>
            <a:ext cx="70358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02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6BE861-2C8A-33A6-D065-0F2ADC16D529}"/>
              </a:ext>
            </a:extLst>
          </p:cNvPr>
          <p:cNvSpPr txBox="1"/>
          <p:nvPr/>
        </p:nvSpPr>
        <p:spPr>
          <a:xfrm>
            <a:off x="1041400" y="2692400"/>
            <a:ext cx="7035800" cy="43088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2. Cơ sở lý thuyết và công nghệ sử dụng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BAA1F97-0455-FCB8-96DC-1AAB6DC46148}"/>
              </a:ext>
            </a:extLst>
          </p:cNvPr>
          <p:cNvSpPr/>
          <p:nvPr/>
        </p:nvSpPr>
        <p:spPr>
          <a:xfrm>
            <a:off x="914400" y="3124200"/>
            <a:ext cx="7289800" cy="6604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A501048-FD62-0535-2BAA-36213DB0EEC8}"/>
              </a:ext>
            </a:extLst>
          </p:cNvPr>
          <p:cNvSpPr txBox="1"/>
          <p:nvPr/>
        </p:nvSpPr>
        <p:spPr>
          <a:xfrm>
            <a:off x="1041400" y="3225800"/>
            <a:ext cx="70358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03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7C53A9-038A-6B15-2B3B-A7AAB4A617E8}"/>
              </a:ext>
            </a:extLst>
          </p:cNvPr>
          <p:cNvSpPr txBox="1"/>
          <p:nvPr/>
        </p:nvSpPr>
        <p:spPr>
          <a:xfrm>
            <a:off x="1041400" y="3606800"/>
            <a:ext cx="7035800" cy="43088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3. Phân tích và thiết kế hệ thống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2E211919-5B9B-DC51-ACFD-BAA09B8A5735}"/>
              </a:ext>
            </a:extLst>
          </p:cNvPr>
          <p:cNvSpPr/>
          <p:nvPr/>
        </p:nvSpPr>
        <p:spPr>
          <a:xfrm>
            <a:off x="914400" y="4038600"/>
            <a:ext cx="7289800" cy="6604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B69205E-279D-7802-791F-8FD7D88DEDEC}"/>
              </a:ext>
            </a:extLst>
          </p:cNvPr>
          <p:cNvSpPr txBox="1"/>
          <p:nvPr/>
        </p:nvSpPr>
        <p:spPr>
          <a:xfrm>
            <a:off x="1041400" y="4140200"/>
            <a:ext cx="70358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04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DF277D96-A04F-5384-AB95-2F2B3D40A31F}"/>
              </a:ext>
            </a:extLst>
          </p:cNvPr>
          <p:cNvSpPr txBox="1"/>
          <p:nvPr/>
        </p:nvSpPr>
        <p:spPr>
          <a:xfrm>
            <a:off x="1041400" y="4521200"/>
            <a:ext cx="7035800" cy="43088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4. Kết quả xây dựng/Demo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E07D31-AD3B-E02A-034A-FC77607C2A9D}"/>
              </a:ext>
            </a:extLst>
          </p:cNvPr>
          <p:cNvSpPr/>
          <p:nvPr/>
        </p:nvSpPr>
        <p:spPr>
          <a:xfrm>
            <a:off x="914400" y="4953000"/>
            <a:ext cx="7289800" cy="6604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11EDC0E-09DC-D73E-BDFF-D44C750137C6}"/>
              </a:ext>
            </a:extLst>
          </p:cNvPr>
          <p:cNvSpPr txBox="1"/>
          <p:nvPr/>
        </p:nvSpPr>
        <p:spPr>
          <a:xfrm>
            <a:off x="1041400" y="5054600"/>
            <a:ext cx="70358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05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CDD43B-58E7-4653-A594-4CDB1346FCB6}"/>
              </a:ext>
            </a:extLst>
          </p:cNvPr>
          <p:cNvSpPr txBox="1"/>
          <p:nvPr/>
        </p:nvSpPr>
        <p:spPr>
          <a:xfrm>
            <a:off x="1041400" y="5435600"/>
            <a:ext cx="7035800" cy="43088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5. Kết luận và hướng phát triển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484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3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0299A7B-EA92-1B3B-DC8B-DADD210676C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9051445-5DD3-0B39-334C-4B3A18984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C5E52F1-5E21-941D-DD0A-F1554E195A4B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Giới thiệu đề tài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724E627-99E2-DA0E-9948-8D7C40D061A5}"/>
              </a:ext>
            </a:extLst>
          </p:cNvPr>
          <p:cNvSpPr txBox="1"/>
          <p:nvPr/>
        </p:nvSpPr>
        <p:spPr>
          <a:xfrm>
            <a:off x="762000" y="1524000"/>
            <a:ext cx="7620000" cy="2862322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200">
                <a:solidFill>
                  <a:srgbClr val="FFFFFF"/>
                </a:solidFill>
                <a:latin typeface="Arial" panose="020B0604020202020204" pitchFamily="34" charset="0"/>
              </a:rPr>
              <a:t>• Thương mại điện tử ngày càng phổ biến trong bán lẻ thiết bị điện tử
• Nhu cầu quản lý sản phẩm, đơn hàng và khách hàng tập trung
• Hệ thống phục vụ hai nhóm chính: khách hàng và quản trị viên
• Đề tài tập trung vào Laravel, MariaDB/MySQL, Blade, API và bảo mật</a:t>
            </a:r>
            <a:endParaRPr lang="en-US" sz="2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15691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4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29A16FA-A787-7A01-4465-D91D49C56D3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D9773F3-7379-E4A6-485A-70E24A5F2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F987540-49B7-0378-5140-D4B6B6EB36D8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Mục tiêu và phạm vi đề tài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90AF4C-DA2B-3E55-A1DA-589E76A59582}"/>
              </a:ext>
            </a:extLst>
          </p:cNvPr>
          <p:cNvSpPr/>
          <p:nvPr/>
        </p:nvSpPr>
        <p:spPr>
          <a:xfrm>
            <a:off x="660400" y="1320800"/>
            <a:ext cx="3708400" cy="40386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4E43B7-E80D-631A-2580-3EC91994363F}"/>
              </a:ext>
            </a:extLst>
          </p:cNvPr>
          <p:cNvSpPr txBox="1"/>
          <p:nvPr/>
        </p:nvSpPr>
        <p:spPr>
          <a:xfrm>
            <a:off x="787400" y="1422400"/>
            <a:ext cx="34544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Mục tiêu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C5D84C-7242-F15E-B175-756B692403C7}"/>
              </a:ext>
            </a:extLst>
          </p:cNvPr>
          <p:cNvSpPr txBox="1"/>
          <p:nvPr/>
        </p:nvSpPr>
        <p:spPr>
          <a:xfrm>
            <a:off x="787400" y="1803400"/>
            <a:ext cx="3454400" cy="292387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• Xây dựng website bán thiết bị điện tử
• Quản lý sản phẩm, danh mục, thương hiệu
• Quản lý đơn hàng và khách hàng
• Hỗ trợ giỏ hàng, checkout COD
• Cung cấp API public/customer/admin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2542088-6E7F-A201-16A1-F9BAC49E01DF}"/>
              </a:ext>
            </a:extLst>
          </p:cNvPr>
          <p:cNvSpPr/>
          <p:nvPr/>
        </p:nvSpPr>
        <p:spPr>
          <a:xfrm>
            <a:off x="4775200" y="1320800"/>
            <a:ext cx="3708400" cy="40386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C664F-A647-12C3-AFA8-3D6E212C3221}"/>
              </a:ext>
            </a:extLst>
          </p:cNvPr>
          <p:cNvSpPr txBox="1"/>
          <p:nvPr/>
        </p:nvSpPr>
        <p:spPr>
          <a:xfrm>
            <a:off x="4902200" y="1422400"/>
            <a:ext cx="34544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Phạm vi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85D07D-86FC-99F7-35C1-E7EBE006744B}"/>
              </a:ext>
            </a:extLst>
          </p:cNvPr>
          <p:cNvSpPr txBox="1"/>
          <p:nvPr/>
        </p:nvSpPr>
        <p:spPr>
          <a:xfrm>
            <a:off x="4902200" y="1803400"/>
            <a:ext cx="3454400" cy="292387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• Tập trung core flow thương mại điện tử
• Chạy local phục vụ đồ án và demo
• Chưa triển khai thanh toán online production
• Chưa tích hợp vận chuyển thật
• Chưa hoàn thiện kho nhiều chi nhánh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06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5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487640C-722A-E7F2-6ADF-E00318D004B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F03BFF6-C8AC-9292-0542-381A6AE3E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803954-36AB-4E78-FC6E-196484C2AD2C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Công nghệ sử dụng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F0AC3E-2044-B444-5754-1DA3CFAAA612}"/>
              </a:ext>
            </a:extLst>
          </p:cNvPr>
          <p:cNvSpPr/>
          <p:nvPr/>
        </p:nvSpPr>
        <p:spPr>
          <a:xfrm>
            <a:off x="660400" y="13208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D3A388-9821-E377-314A-17E2D3CE03C2}"/>
              </a:ext>
            </a:extLst>
          </p:cNvPr>
          <p:cNvSpPr txBox="1"/>
          <p:nvPr/>
        </p:nvSpPr>
        <p:spPr>
          <a:xfrm>
            <a:off x="787400" y="14224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Backend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7374C02-E4A3-9BDC-C093-6A52189EB366}"/>
              </a:ext>
            </a:extLst>
          </p:cNvPr>
          <p:cNvSpPr txBox="1"/>
          <p:nvPr/>
        </p:nvSpPr>
        <p:spPr>
          <a:xfrm>
            <a:off x="787400" y="1803400"/>
            <a:ext cx="2159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Laravel / PHP
MVC, middleware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DF14F5-518F-473D-0827-9924321610A2}"/>
              </a:ext>
            </a:extLst>
          </p:cNvPr>
          <p:cNvSpPr/>
          <p:nvPr/>
        </p:nvSpPr>
        <p:spPr>
          <a:xfrm>
            <a:off x="3365500" y="13208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B9372B-773A-A35B-69A9-85BB435BFCE9}"/>
              </a:ext>
            </a:extLst>
          </p:cNvPr>
          <p:cNvSpPr txBox="1"/>
          <p:nvPr/>
        </p:nvSpPr>
        <p:spPr>
          <a:xfrm>
            <a:off x="3492500" y="14224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Database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08423-C272-EF14-EF3C-59F83CA1925B}"/>
              </a:ext>
            </a:extLst>
          </p:cNvPr>
          <p:cNvSpPr txBox="1"/>
          <p:nvPr/>
        </p:nvSpPr>
        <p:spPr>
          <a:xfrm>
            <a:off x="3492500" y="1803400"/>
            <a:ext cx="2159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MariaDB / MySQL
Eloquent ORM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5562E44-3AD9-B851-73A6-A5DE80D5FFFF}"/>
              </a:ext>
            </a:extLst>
          </p:cNvPr>
          <p:cNvSpPr/>
          <p:nvPr/>
        </p:nvSpPr>
        <p:spPr>
          <a:xfrm>
            <a:off x="6070600" y="13208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111DDF-5EEF-90C1-2052-058CFBFB12AE}"/>
              </a:ext>
            </a:extLst>
          </p:cNvPr>
          <p:cNvSpPr txBox="1"/>
          <p:nvPr/>
        </p:nvSpPr>
        <p:spPr>
          <a:xfrm>
            <a:off x="6197600" y="14224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Frontend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0EFD1FA-89FB-F33C-E6F7-320B072BFECF}"/>
              </a:ext>
            </a:extLst>
          </p:cNvPr>
          <p:cNvSpPr txBox="1"/>
          <p:nvPr/>
        </p:nvSpPr>
        <p:spPr>
          <a:xfrm>
            <a:off x="6197600" y="1803400"/>
            <a:ext cx="2159000" cy="98488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Blade
HTML, CSS, JavaScript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61755A-1545-A4E0-45AF-6CFBB09E7C45}"/>
              </a:ext>
            </a:extLst>
          </p:cNvPr>
          <p:cNvSpPr/>
          <p:nvPr/>
        </p:nvSpPr>
        <p:spPr>
          <a:xfrm>
            <a:off x="660400" y="32766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CE2219-3450-33B5-BDD8-EA494E4C0CA6}"/>
              </a:ext>
            </a:extLst>
          </p:cNvPr>
          <p:cNvSpPr txBox="1"/>
          <p:nvPr/>
        </p:nvSpPr>
        <p:spPr>
          <a:xfrm>
            <a:off x="787400" y="33782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API Auth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491941-265C-5FF1-2F13-BF9CE7DE0582}"/>
              </a:ext>
            </a:extLst>
          </p:cNvPr>
          <p:cNvSpPr txBox="1"/>
          <p:nvPr/>
        </p:nvSpPr>
        <p:spPr>
          <a:xfrm>
            <a:off x="787400" y="3759200"/>
            <a:ext cx="2159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Laravel Sanctum
Token-based API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1291D8C-66BA-5AAC-7EB7-C1B94CF8A21C}"/>
              </a:ext>
            </a:extLst>
          </p:cNvPr>
          <p:cNvSpPr/>
          <p:nvPr/>
        </p:nvSpPr>
        <p:spPr>
          <a:xfrm>
            <a:off x="3365500" y="32766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CA92C7-A723-CC5F-7E59-F4D7B95B09CD}"/>
              </a:ext>
            </a:extLst>
          </p:cNvPr>
          <p:cNvSpPr txBox="1"/>
          <p:nvPr/>
        </p:nvSpPr>
        <p:spPr>
          <a:xfrm>
            <a:off x="3492500" y="33782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Queue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F2F7CD7-41FC-2E59-05F4-8B8E926F48AD}"/>
              </a:ext>
            </a:extLst>
          </p:cNvPr>
          <p:cNvSpPr txBox="1"/>
          <p:nvPr/>
        </p:nvSpPr>
        <p:spPr>
          <a:xfrm>
            <a:off x="3492500" y="3759200"/>
            <a:ext cx="2159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Database queue
failed_jobs, jobs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38AA0B6-959F-14BB-FCC2-240799728700}"/>
              </a:ext>
            </a:extLst>
          </p:cNvPr>
          <p:cNvSpPr/>
          <p:nvPr/>
        </p:nvSpPr>
        <p:spPr>
          <a:xfrm>
            <a:off x="6070600" y="3276600"/>
            <a:ext cx="2413000" cy="152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AF17399-1745-8222-C7C6-1387E970EFFD}"/>
              </a:ext>
            </a:extLst>
          </p:cNvPr>
          <p:cNvSpPr txBox="1"/>
          <p:nvPr/>
        </p:nvSpPr>
        <p:spPr>
          <a:xfrm>
            <a:off x="6197600" y="3378200"/>
            <a:ext cx="215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Tooling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781B15E-7B49-4A82-AA5A-7BD45699E842}"/>
              </a:ext>
            </a:extLst>
          </p:cNvPr>
          <p:cNvSpPr txBox="1"/>
          <p:nvPr/>
        </p:nvSpPr>
        <p:spPr>
          <a:xfrm>
            <a:off x="6197600" y="3759200"/>
            <a:ext cx="2159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Composer
Git</a:t>
            </a:r>
          </a:p>
        </p:txBody>
      </p:sp>
    </p:spTree>
    <p:extLst>
      <p:ext uri="{BB962C8B-B14F-4D97-AF65-F5344CB8AC3E}">
        <p14:creationId xmlns:p14="http://schemas.microsoft.com/office/powerpoint/2010/main" val="347981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6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E4DE94BF-7EFB-3F73-1443-1C78C318A10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97044607-D8EF-F952-A617-6964A7566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3A5F63-11CC-01EA-7E15-8A4FF0C3AB82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Kiến trúc tổng quát hệ thống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6E20E5A-CB20-D657-4000-D670F9635499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1168400"/>
            <a:ext cx="7061200" cy="4445000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8969CBD-8E7C-8D45-3005-354B95D1916E}"/>
              </a:ext>
            </a:extLst>
          </p:cNvPr>
          <p:cNvSpPr txBox="1"/>
          <p:nvPr/>
        </p:nvSpPr>
        <p:spPr>
          <a:xfrm>
            <a:off x="2159000" y="5689600"/>
            <a:ext cx="4826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1. Kiến trúc tổng quát hệ thống</a:t>
            </a:r>
          </a:p>
        </p:txBody>
      </p:sp>
    </p:spTree>
    <p:extLst>
      <p:ext uri="{BB962C8B-B14F-4D97-AF65-F5344CB8AC3E}">
        <p14:creationId xmlns:p14="http://schemas.microsoft.com/office/powerpoint/2010/main" val="885808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7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C67A085-4071-73D7-56C0-873BC7D5094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ED394765-9A98-9EE2-01E3-769A13253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1820B2-4B54-BC0C-3EB1-39891A89FC82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2800" b="1">
                <a:solidFill>
                  <a:srgbClr val="FFD650"/>
                </a:solidFill>
                <a:latin typeface="Arial" panose="020B0604020202020204" pitchFamily="34" charset="0"/>
              </a:rPr>
              <a:t>Đối tượng sử dụng hệ thống</a:t>
            </a:r>
            <a:endParaRPr lang="en-US" sz="28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B082F4-52D8-2792-A4A2-2C87C39A4A71}"/>
              </a:ext>
            </a:extLst>
          </p:cNvPr>
          <p:cNvSpPr/>
          <p:nvPr/>
        </p:nvSpPr>
        <p:spPr>
          <a:xfrm>
            <a:off x="825500" y="1460500"/>
            <a:ext cx="3302000" cy="1397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C6F98F0-BAA0-54F6-EBEB-77BEE3F171A5}"/>
              </a:ext>
            </a:extLst>
          </p:cNvPr>
          <p:cNvSpPr txBox="1"/>
          <p:nvPr/>
        </p:nvSpPr>
        <p:spPr>
          <a:xfrm>
            <a:off x="952500" y="1562100"/>
            <a:ext cx="3048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Quản trị viên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526D89-126B-5A9A-D9A6-C92A55B3C5CE}"/>
              </a:ext>
            </a:extLst>
          </p:cNvPr>
          <p:cNvSpPr txBox="1"/>
          <p:nvPr/>
        </p:nvSpPr>
        <p:spPr>
          <a:xfrm>
            <a:off x="952500" y="1943100"/>
            <a:ext cx="3048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Quản lý dữ liệu, đơn hàng, nội dung và phân quyền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06E4A-49F2-D1DB-2D29-B0DEF60B4496}"/>
              </a:ext>
            </a:extLst>
          </p:cNvPr>
          <p:cNvSpPr/>
          <p:nvPr/>
        </p:nvSpPr>
        <p:spPr>
          <a:xfrm>
            <a:off x="5016500" y="1460500"/>
            <a:ext cx="3302000" cy="1397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EEB262-9772-E6E9-DB58-7A9F8196061C}"/>
              </a:ext>
            </a:extLst>
          </p:cNvPr>
          <p:cNvSpPr txBox="1"/>
          <p:nvPr/>
        </p:nvSpPr>
        <p:spPr>
          <a:xfrm>
            <a:off x="5143500" y="1562100"/>
            <a:ext cx="3048000" cy="769441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Khách hàng đã đăng ký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D199A-891B-5F2D-618E-32DF2349C634}"/>
              </a:ext>
            </a:extLst>
          </p:cNvPr>
          <p:cNvSpPr txBox="1"/>
          <p:nvPr/>
        </p:nvSpPr>
        <p:spPr>
          <a:xfrm>
            <a:off x="5143500" y="1943100"/>
            <a:ext cx="3048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Quản lý tài khoản, địa chỉ và lịch sử đơn hàng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AA21D99-CEF0-C357-09EC-61DE854094A3}"/>
              </a:ext>
            </a:extLst>
          </p:cNvPr>
          <p:cNvSpPr/>
          <p:nvPr/>
        </p:nvSpPr>
        <p:spPr>
          <a:xfrm>
            <a:off x="825500" y="3619500"/>
            <a:ext cx="3302000" cy="1397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84A26B-26C7-807B-82DF-19BCD7AB3D10}"/>
              </a:ext>
            </a:extLst>
          </p:cNvPr>
          <p:cNvSpPr txBox="1"/>
          <p:nvPr/>
        </p:nvSpPr>
        <p:spPr>
          <a:xfrm>
            <a:off x="952500" y="3721100"/>
            <a:ext cx="3048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Khách vãng lai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1634009-C7DA-2037-1516-BEEC0DAF63EC}"/>
              </a:ext>
            </a:extLst>
          </p:cNvPr>
          <p:cNvSpPr txBox="1"/>
          <p:nvPr/>
        </p:nvSpPr>
        <p:spPr>
          <a:xfrm>
            <a:off x="952500" y="4102100"/>
            <a:ext cx="3048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Xem sản phẩm, tìm kiếm, thêm giỏ hàng và checkout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C1531A6-C79A-92B7-DBE8-FA23FF180B4B}"/>
              </a:ext>
            </a:extLst>
          </p:cNvPr>
          <p:cNvSpPr/>
          <p:nvPr/>
        </p:nvSpPr>
        <p:spPr>
          <a:xfrm>
            <a:off x="5016500" y="3619500"/>
            <a:ext cx="3302000" cy="1397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66605DA-6BE0-3874-FAA6-505601544A75}"/>
              </a:ext>
            </a:extLst>
          </p:cNvPr>
          <p:cNvSpPr txBox="1"/>
          <p:nvPr/>
        </p:nvSpPr>
        <p:spPr>
          <a:xfrm>
            <a:off x="5143500" y="3721100"/>
            <a:ext cx="3048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API client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9A78CC7-9CD3-EBE8-D741-92BB49AD17FB}"/>
              </a:ext>
            </a:extLst>
          </p:cNvPr>
          <p:cNvSpPr txBox="1"/>
          <p:nvPr/>
        </p:nvSpPr>
        <p:spPr>
          <a:xfrm>
            <a:off x="5143500" y="4102100"/>
            <a:ext cx="3048000" cy="707886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Truy cập dữ liệu qua public/customer/admin API</a:t>
            </a:r>
          </a:p>
        </p:txBody>
      </p:sp>
    </p:spTree>
    <p:extLst>
      <p:ext uri="{BB962C8B-B14F-4D97-AF65-F5344CB8AC3E}">
        <p14:creationId xmlns:p14="http://schemas.microsoft.com/office/powerpoint/2010/main" val="294271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8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C55D46F-1915-9400-FC9F-B4BA447057E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D0886123-B8E6-AC81-1EF2-A3C868CD6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5A0B08-3414-C18D-D012-A912789F2979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Yêu cầu chức năng chính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B99B009-C61E-E12A-49B6-37F3B8515D27}"/>
              </a:ext>
            </a:extLst>
          </p:cNvPr>
          <p:cNvSpPr/>
          <p:nvPr/>
        </p:nvSpPr>
        <p:spPr>
          <a:xfrm>
            <a:off x="571500" y="1295400"/>
            <a:ext cx="3810000" cy="18415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B0BB12-EDBA-032D-D7D5-ECAD9CDA2C24}"/>
              </a:ext>
            </a:extLst>
          </p:cNvPr>
          <p:cNvSpPr txBox="1"/>
          <p:nvPr/>
        </p:nvSpPr>
        <p:spPr>
          <a:xfrm>
            <a:off x="698500" y="1397000"/>
            <a:ext cx="3556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Admin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3ED405-9E3F-3258-B4D6-B3070785A655}"/>
              </a:ext>
            </a:extLst>
          </p:cNvPr>
          <p:cNvSpPr txBox="1"/>
          <p:nvPr/>
        </p:nvSpPr>
        <p:spPr>
          <a:xfrm>
            <a:off x="698500" y="1778000"/>
            <a:ext cx="3556000" cy="1261884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• Sản phẩm, danh mục, thương hiệu
• Đơn hàng, khách hàng
• Nội dung, phân quyền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FC53068-9CDD-8E33-7CA2-15BE9BC13C1C}"/>
              </a:ext>
            </a:extLst>
          </p:cNvPr>
          <p:cNvSpPr/>
          <p:nvPr/>
        </p:nvSpPr>
        <p:spPr>
          <a:xfrm>
            <a:off x="4762500" y="1295400"/>
            <a:ext cx="3810000" cy="18415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4D923BF-358C-B665-93E5-26DBE7998446}"/>
              </a:ext>
            </a:extLst>
          </p:cNvPr>
          <p:cNvSpPr txBox="1"/>
          <p:nvPr/>
        </p:nvSpPr>
        <p:spPr>
          <a:xfrm>
            <a:off x="4889500" y="1397000"/>
            <a:ext cx="3556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Storefront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C118AD-A6A2-EF44-F733-8D1EDA78DD6A}"/>
              </a:ext>
            </a:extLst>
          </p:cNvPr>
          <p:cNvSpPr txBox="1"/>
          <p:nvPr/>
        </p:nvSpPr>
        <p:spPr>
          <a:xfrm>
            <a:off x="4889500" y="1778000"/>
            <a:ext cx="3556000" cy="1261884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• Trang chủ, danh mục, sản phẩm
• Chi tiết sản phẩm
• Giỏ hàng và checkout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02B197-C7FC-6576-918C-0A2779CC2263}"/>
              </a:ext>
            </a:extLst>
          </p:cNvPr>
          <p:cNvSpPr/>
          <p:nvPr/>
        </p:nvSpPr>
        <p:spPr>
          <a:xfrm>
            <a:off x="571500" y="3581400"/>
            <a:ext cx="3810000" cy="18415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42D0C0-3778-DBF4-08E7-7487FBF84AFB}"/>
              </a:ext>
            </a:extLst>
          </p:cNvPr>
          <p:cNvSpPr txBox="1"/>
          <p:nvPr/>
        </p:nvSpPr>
        <p:spPr>
          <a:xfrm>
            <a:off x="698500" y="3683000"/>
            <a:ext cx="3556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Customer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65297D-9F0D-26F0-9201-AEBC38468D13}"/>
              </a:ext>
            </a:extLst>
          </p:cNvPr>
          <p:cNvSpPr txBox="1"/>
          <p:nvPr/>
        </p:nvSpPr>
        <p:spPr>
          <a:xfrm>
            <a:off x="698500" y="4064000"/>
            <a:ext cx="3556000" cy="98488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• Đăng ký, đăng nhập
• Hồ sơ cá nhân
• Lịch sử đơn hàng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6A4628-A69C-E3C6-6BC2-E20DF522994C}"/>
              </a:ext>
            </a:extLst>
          </p:cNvPr>
          <p:cNvSpPr/>
          <p:nvPr/>
        </p:nvSpPr>
        <p:spPr>
          <a:xfrm>
            <a:off x="4762500" y="3581400"/>
            <a:ext cx="3810000" cy="18415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E4517B-6735-9FFE-8547-B4D759FE8CF8}"/>
              </a:ext>
            </a:extLst>
          </p:cNvPr>
          <p:cNvSpPr txBox="1"/>
          <p:nvPr/>
        </p:nvSpPr>
        <p:spPr>
          <a:xfrm>
            <a:off x="4889500" y="3683000"/>
            <a:ext cx="3556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API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779876-DFA6-03F8-3856-2DAC96B620F4}"/>
              </a:ext>
            </a:extLst>
          </p:cNvPr>
          <p:cNvSpPr txBox="1"/>
          <p:nvPr/>
        </p:nvSpPr>
        <p:spPr>
          <a:xfrm>
            <a:off x="4889500" y="4064000"/>
            <a:ext cx="3556000" cy="98488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• Public API
• Customer API
• Admin API</a:t>
            </a:r>
          </a:p>
        </p:txBody>
      </p:sp>
    </p:spTree>
    <p:extLst>
      <p:ext uri="{BB962C8B-B14F-4D97-AF65-F5344CB8AC3E}">
        <p14:creationId xmlns:p14="http://schemas.microsoft.com/office/powerpoint/2010/main" val="2457893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9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FF3B2A4-5398-29E6-D064-BA8E4F11C7C1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505897D-0D10-9680-4BF2-2D42EE300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2BF7BE-0A63-5484-99EF-2675F33F255B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2800" b="1">
                <a:solidFill>
                  <a:srgbClr val="FFD650"/>
                </a:solidFill>
                <a:latin typeface="Arial" panose="020B0604020202020204" pitchFamily="34" charset="0"/>
              </a:rPr>
              <a:t>Thiết kế cơ sở dữ liệu</a:t>
            </a:r>
            <a:endParaRPr lang="en-US" sz="28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F7CF258-412B-D517-7530-0FC5FF39E906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000" y="1117600"/>
            <a:ext cx="7366000" cy="4572000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62B8C7A-F70F-191E-5775-9DB8457886D0}"/>
              </a:ext>
            </a:extLst>
          </p:cNvPr>
          <p:cNvSpPr txBox="1"/>
          <p:nvPr/>
        </p:nvSpPr>
        <p:spPr>
          <a:xfrm>
            <a:off x="2260600" y="5740400"/>
            <a:ext cx="4826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1600">
                <a:solidFill>
                  <a:srgbClr val="FFD650"/>
                </a:solidFill>
                <a:latin typeface="Arial" panose="020B0604020202020204" pitchFamily="34" charset="0"/>
              </a:rPr>
              <a:t>Hình 2. Sơ đồ cơ sở dữ liệu tổng quát</a:t>
            </a:r>
            <a:endParaRPr lang="en-US" sz="1600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7765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10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A21C760-F786-B795-FA59-D13D419AD90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E1C8C3D-A824-9524-35F5-0A01E0050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4CA21A-125B-8735-2C9B-A6E8D017989C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Quy trình đặt hàng COD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DED0EA-0A19-C484-FE9E-1BCB4781CD82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400" y="1092200"/>
            <a:ext cx="7061200" cy="4572000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82BC66B-9628-2F39-A477-BA18499FB062}"/>
              </a:ext>
            </a:extLst>
          </p:cNvPr>
          <p:cNvSpPr txBox="1"/>
          <p:nvPr/>
        </p:nvSpPr>
        <p:spPr>
          <a:xfrm>
            <a:off x="2768600" y="5740400"/>
            <a:ext cx="3937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3. Quy trình đặt hàng COD</a:t>
            </a:r>
          </a:p>
        </p:txBody>
      </p:sp>
    </p:spTree>
    <p:extLst>
      <p:ext uri="{BB962C8B-B14F-4D97-AF65-F5344CB8AC3E}">
        <p14:creationId xmlns:p14="http://schemas.microsoft.com/office/powerpoint/2010/main" val="1603654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11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3640F01-637F-AF27-D4A0-DF5A3CB85E4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0DB79545-835E-9527-C441-8FD0440302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06055A-6AC2-C241-C107-E962575A5937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Giao diện Storefront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5BA4AF-876C-F414-15CA-420DC73C21B2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295400"/>
            <a:ext cx="2603500" cy="3429000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43F6C3-40C1-971F-89CC-F06A0F07791E}"/>
              </a:ext>
            </a:extLst>
          </p:cNvPr>
          <p:cNvSpPr txBox="1"/>
          <p:nvPr/>
        </p:nvSpPr>
        <p:spPr>
          <a:xfrm>
            <a:off x="812800" y="4851400"/>
            <a:ext cx="2032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4. Trang chủ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E12F8ED-AEA6-8B65-BA32-67173470851D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295400"/>
            <a:ext cx="2603500" cy="3429000"/>
          </a:xfrm>
          <a:prstGeom prst="rect">
            <a:avLst/>
          </a:prstGeom>
          <a:ln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351C9217-E6EB-0865-2ADE-AACCEF147C9A}"/>
              </a:ext>
            </a:extLst>
          </p:cNvPr>
          <p:cNvSpPr txBox="1"/>
          <p:nvPr/>
        </p:nvSpPr>
        <p:spPr>
          <a:xfrm>
            <a:off x="3365500" y="4851400"/>
            <a:ext cx="2667000" cy="646331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5. Danh sách sản phẩm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C1EBB42A-1B81-4D48-B840-B82BD798129B}"/>
              </a:ext>
            </a:extLst>
          </p:cNvPr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95400"/>
            <a:ext cx="2603500" cy="3429000"/>
          </a:xfrm>
          <a:prstGeom prst="rect">
            <a:avLst/>
          </a:prstGeom>
          <a:ln/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B25D60F-8725-9C44-1BF8-EBB33F20DC76}"/>
              </a:ext>
            </a:extLst>
          </p:cNvPr>
          <p:cNvSpPr txBox="1"/>
          <p:nvPr/>
        </p:nvSpPr>
        <p:spPr>
          <a:xfrm>
            <a:off x="6311900" y="4851400"/>
            <a:ext cx="2413000" cy="646331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6. Chi tiết sản phẩm</a:t>
            </a:r>
          </a:p>
        </p:txBody>
      </p:sp>
    </p:spTree>
    <p:extLst>
      <p:ext uri="{BB962C8B-B14F-4D97-AF65-F5344CB8AC3E}">
        <p14:creationId xmlns:p14="http://schemas.microsoft.com/office/powerpoint/2010/main" val="4206190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12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0306D7AB-E19A-8A49-56AE-F37515038B3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642D5533-DF43-D70A-B61B-9D90ABAE8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AFD12E-0023-E89D-8E19-273874D59134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Giao diện Admin và Customer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E5A50E5-2BC7-61EB-163A-54A1B8746C05}"/>
              </a:ext>
            </a:extLst>
          </p:cNvPr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1270000"/>
            <a:ext cx="3708400" cy="3175000"/>
          </a:xfrm>
          <a:prstGeom prst="rect">
            <a:avLst/>
          </a:prstGeom>
          <a:ln/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CC35270-217E-9E1F-7587-EB1BAE415433}"/>
              </a:ext>
            </a:extLst>
          </p:cNvPr>
          <p:cNvSpPr txBox="1"/>
          <p:nvPr/>
        </p:nvSpPr>
        <p:spPr>
          <a:xfrm>
            <a:off x="1066800" y="4572000"/>
            <a:ext cx="2794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7. Quản lý sản phẩm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B8AD1756-338F-8ABF-8E4D-35BEB0ADA198}"/>
              </a:ext>
            </a:extLst>
          </p:cNvPr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6800" y="1270000"/>
            <a:ext cx="3708400" cy="3175000"/>
          </a:xfrm>
          <a:prstGeom prst="rect">
            <a:avLst/>
          </a:prstGeom>
          <a:ln/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965A2AF6-2275-C8D0-21E5-82CAAAC971F1}"/>
              </a:ext>
            </a:extLst>
          </p:cNvPr>
          <p:cNvSpPr txBox="1"/>
          <p:nvPr/>
        </p:nvSpPr>
        <p:spPr>
          <a:xfrm>
            <a:off x="5270500" y="4572000"/>
            <a:ext cx="3048000" cy="40011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1600">
                <a:solidFill>
                  <a:srgbClr val="FFD650"/>
                </a:solidFill>
                <a:latin typeface="Arial" panose="020B0604020202020204" pitchFamily="34" charset="0"/>
              </a:rPr>
              <a:t>Hình 8. Tài khoản khách hàng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D81FCF-C2FC-5EB7-AC12-618216D41C8E}"/>
              </a:ext>
            </a:extLst>
          </p:cNvPr>
          <p:cNvSpPr txBox="1"/>
          <p:nvPr/>
        </p:nvSpPr>
        <p:spPr>
          <a:xfrm>
            <a:off x="914400" y="5130800"/>
            <a:ext cx="7366000" cy="1077218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000">
                <a:solidFill>
                  <a:srgbClr val="FFFFFF"/>
                </a:solidFill>
                <a:latin typeface="Arial" panose="020B0604020202020204" pitchFamily="34" charset="0"/>
              </a:rPr>
              <a:t>• Admin quản lý dữ liệu tập trung
• Khách hàng theo dõi tài khoản và đơn hàng
• Dữ liệu lưu trong DB, không dùng giao diện mock</a:t>
            </a:r>
            <a:endParaRPr lang="en-US" sz="20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46773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13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3A5214F-A68B-4BB8-82F0-20E9B27B37AE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4C45CFBF-6D1A-CF93-C6B2-9240A8003D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5D8F2E-C75F-B99D-5362-1D2EAF51CFCA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2800" b="1">
                <a:solidFill>
                  <a:srgbClr val="FFD650"/>
                </a:solidFill>
                <a:latin typeface="Arial" panose="020B0604020202020204" pitchFamily="34" charset="0"/>
              </a:rPr>
              <a:t>API và bảo mật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5E52760-AB7C-4164-4086-2BB410D0E4BC}"/>
              </a:ext>
            </a:extLst>
          </p:cNvPr>
          <p:cNvSpPr/>
          <p:nvPr/>
        </p:nvSpPr>
        <p:spPr>
          <a:xfrm>
            <a:off x="698500" y="1333500"/>
            <a:ext cx="3683000" cy="3810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3D04F50-5850-C534-D677-4E596A4E8C13}"/>
              </a:ext>
            </a:extLst>
          </p:cNvPr>
          <p:cNvSpPr txBox="1"/>
          <p:nvPr/>
        </p:nvSpPr>
        <p:spPr>
          <a:xfrm>
            <a:off x="825500" y="1435100"/>
            <a:ext cx="342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API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882DA2-B678-FDBD-86C3-DC0C6DC68C85}"/>
              </a:ext>
            </a:extLst>
          </p:cNvPr>
          <p:cNvSpPr txBox="1"/>
          <p:nvPr/>
        </p:nvSpPr>
        <p:spPr>
          <a:xfrm>
            <a:off x="825500" y="1816100"/>
            <a:ext cx="3429000" cy="1538883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• Trả dữ liệu JSON
• Public API cho dữ liệu mở
• Customer API cho tài khoản
• Admin API cho quản trị
• Sanctum xác thực token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12E4017-4B4F-53D2-8396-15D238A7E32A}"/>
              </a:ext>
            </a:extLst>
          </p:cNvPr>
          <p:cNvSpPr/>
          <p:nvPr/>
        </p:nvSpPr>
        <p:spPr>
          <a:xfrm>
            <a:off x="4762500" y="1333500"/>
            <a:ext cx="3683000" cy="3810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BAF2188-74A3-E9EA-66EB-1E65AA9D891D}"/>
              </a:ext>
            </a:extLst>
          </p:cNvPr>
          <p:cNvSpPr txBox="1"/>
          <p:nvPr/>
        </p:nvSpPr>
        <p:spPr>
          <a:xfrm>
            <a:off x="4889500" y="1435100"/>
            <a:ext cx="34290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Bảo mật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37BA7D-B54F-1803-76C5-939D80C38BA9}"/>
              </a:ext>
            </a:extLst>
          </p:cNvPr>
          <p:cNvSpPr txBox="1"/>
          <p:nvPr/>
        </p:nvSpPr>
        <p:spPr>
          <a:xfrm>
            <a:off x="4889500" y="1816100"/>
            <a:ext cx="3429000" cy="1815882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• CSRF bảo vệ form web
• Hash mật khẩu
• Session encryption
• Middleware kiểm tra quyền
• Rate limiting endpoint nhạy cảm</a:t>
            </a:r>
          </a:p>
        </p:txBody>
      </p:sp>
    </p:spTree>
    <p:extLst>
      <p:ext uri="{BB962C8B-B14F-4D97-AF65-F5344CB8AC3E}">
        <p14:creationId xmlns:p14="http://schemas.microsoft.com/office/powerpoint/2010/main" val="37216605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14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A5A2706A-C2E2-2933-73FC-DB212E17973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2438" y="2593181"/>
            <a:ext cx="5715000" cy="3114675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1FBACD26-B518-7F2A-2815-3C22B0193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CA93A9-C237-24BC-94E0-529690034C50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2800" b="1">
                <a:solidFill>
                  <a:srgbClr val="FFD650"/>
                </a:solidFill>
                <a:latin typeface="Arial" panose="020B0604020202020204" pitchFamily="34" charset="0"/>
              </a:rPr>
              <a:t>Kết quả đạt được</a:t>
            </a:r>
            <a:endParaRPr lang="en-US" sz="28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2F01AFF-FB33-C1C6-9D18-075371ECBBBF}"/>
              </a:ext>
            </a:extLst>
          </p:cNvPr>
          <p:cNvSpPr txBox="1"/>
          <p:nvPr/>
        </p:nvSpPr>
        <p:spPr>
          <a:xfrm>
            <a:off x="762000" y="1524000"/>
            <a:ext cx="7620000" cy="2862322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200">
                <a:solidFill>
                  <a:srgbClr val="FFFFFF"/>
                </a:solidFill>
                <a:latin typeface="Arial" panose="020B0604020202020204" pitchFamily="34" charset="0"/>
              </a:rPr>
              <a:t>✓ Website thương mại điện tử chạy local ổn định
✓ Hoàn thiện các phân hệ Admin, Storefront, Customer
✓ Xây dựng API public/customer/admin
✓ Database có sản phẩm, danh mục, thương hiệu và dữ liệu mẫu
✓ Checkout COD tạo đủ orders, order_items, payments, order_shipping
✓ Có xác thực, phân quyền và bảo mật cơ bản</a:t>
            </a:r>
            <a:endParaRPr lang="en-US" sz="22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2979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DA7B6-676B-E7C9-D888-7504CDA39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vi-VN">
                <a:solidFill>
                  <a:srgbClr val="FFFFFF">
                    <a:alpha val="60000"/>
                  </a:srgbClr>
                </a:solidFill>
              </a:rPr>
              <a:t>05/05/2026</a:t>
            </a:r>
            <a:endParaRPr lang="en-US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DBB20-82AA-0B25-AB5F-19B601CA9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000">
                <a:solidFill>
                  <a:srgbClr val="FFFFFF">
                    <a:alpha val="60000"/>
                  </a:srgbClr>
                </a:solidFill>
              </a:rPr>
              <a:t>ĐATN - Website TMĐT bán thiết bị điện tử</a:t>
            </a:r>
            <a:endParaRPr lang="en-US" sz="1000" dirty="0">
              <a:solidFill>
                <a:srgbClr val="FFFFFF">
                  <a:alpha val="60000"/>
                </a:srgb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929A1-1BC2-3F6E-D5D7-527F83CE3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z="1100">
                <a:solidFill>
                  <a:srgbClr val="FFFFFF"/>
                </a:solidFill>
              </a:rPr>
              <a:t>15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4ED4158-38ED-64CB-E684-FB59517E0D47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77800"/>
            <a:ext cx="990600" cy="3556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D78C749-B61F-57D0-E6D3-0652FAE5FC42}"/>
              </a:ext>
            </a:extLst>
          </p:cNvPr>
          <p:cNvSpPr txBox="1"/>
          <p:nvPr/>
        </p:nvSpPr>
        <p:spPr>
          <a:xfrm>
            <a:off x="482600" y="381000"/>
            <a:ext cx="711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2800" b="1">
                <a:solidFill>
                  <a:srgbClr val="FFD650"/>
                </a:solidFill>
                <a:latin typeface="Arial" panose="020B0604020202020204" pitchFamily="34" charset="0"/>
              </a:rPr>
              <a:t>Hạn chế và hướng phát triển</a:t>
            </a:r>
            <a:endParaRPr lang="en-US" sz="28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B376F98-3615-F9BA-3B1F-C31D980609D6}"/>
              </a:ext>
            </a:extLst>
          </p:cNvPr>
          <p:cNvSpPr/>
          <p:nvPr/>
        </p:nvSpPr>
        <p:spPr>
          <a:xfrm>
            <a:off x="660400" y="1295400"/>
            <a:ext cx="3708400" cy="406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DBDAC8-24B9-3832-8157-90AB7656E4B5}"/>
              </a:ext>
            </a:extLst>
          </p:cNvPr>
          <p:cNvSpPr txBox="1"/>
          <p:nvPr/>
        </p:nvSpPr>
        <p:spPr>
          <a:xfrm>
            <a:off x="787400" y="1397000"/>
            <a:ext cx="34544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2000" b="1">
                <a:solidFill>
                  <a:srgbClr val="FFD650"/>
                </a:solidFill>
                <a:latin typeface="Arial" panose="020B0604020202020204" pitchFamily="34" charset="0"/>
              </a:rPr>
              <a:t>Hạn chế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87D450-2343-7F3C-97CC-FA8B20656C84}"/>
              </a:ext>
            </a:extLst>
          </p:cNvPr>
          <p:cNvSpPr txBox="1"/>
          <p:nvPr/>
        </p:nvSpPr>
        <p:spPr>
          <a:xfrm>
            <a:off x="787400" y="1778000"/>
            <a:ext cx="3454400" cy="292387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>
                <a:solidFill>
                  <a:srgbClr val="FFFFFF"/>
                </a:solidFill>
                <a:latin typeface="Arial" panose="020B0604020202020204" pitchFamily="34" charset="0"/>
              </a:rPr>
              <a:t>• Chưa tích hợp cổng thanh toán thật
• Chưa tích hợp vận chuyển thật
• Chưa hoàn thiện workflow bảo hành
• Chưa đầy đủ kho nhiều chi nhánh
• Một số ảnh/dữ liệu phục vụ học tập/demo</a:t>
            </a:r>
            <a:endParaRPr lang="en-US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A4AC8A-2704-67CC-73B6-73E43307035F}"/>
              </a:ext>
            </a:extLst>
          </p:cNvPr>
          <p:cNvSpPr/>
          <p:nvPr/>
        </p:nvSpPr>
        <p:spPr>
          <a:xfrm>
            <a:off x="4775200" y="1295400"/>
            <a:ext cx="3708400" cy="4064000"/>
          </a:xfrm>
          <a:prstGeom prst="rect">
            <a:avLst/>
          </a:prstGeom>
          <a:solidFill>
            <a:srgbClr val="0D5F6C">
              <a:alpha val="88000"/>
            </a:srgbClr>
          </a:solidFill>
          <a:ln w="19050" cap="rnd" cmpd="sng" algn="ctr">
            <a:solidFill>
              <a:srgbClr val="6FDDD7">
                <a:alpha val="75000"/>
              </a:srgb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AAF8ED-EF2B-2D8C-396B-E83479353977}"/>
              </a:ext>
            </a:extLst>
          </p:cNvPr>
          <p:cNvSpPr txBox="1"/>
          <p:nvPr/>
        </p:nvSpPr>
        <p:spPr>
          <a:xfrm>
            <a:off x="4902200" y="1397000"/>
            <a:ext cx="3454400" cy="461665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000" b="1">
                <a:solidFill>
                  <a:srgbClr val="FFD650"/>
                </a:solidFill>
                <a:latin typeface="Arial" panose="020B0604020202020204" pitchFamily="34" charset="0"/>
              </a:rPr>
              <a:t>Hướng phát triển</a:t>
            </a:r>
            <a:endParaRPr lang="en-US" sz="2000" b="1">
              <a:solidFill>
                <a:srgbClr val="FFD650"/>
              </a:solidFill>
              <a:latin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31A75D-C493-D1E2-A369-572A757D4F06}"/>
              </a:ext>
            </a:extLst>
          </p:cNvPr>
          <p:cNvSpPr txBox="1"/>
          <p:nvPr/>
        </p:nvSpPr>
        <p:spPr>
          <a:xfrm>
            <a:off x="4902200" y="1778000"/>
            <a:ext cx="3454400" cy="1815882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>
                <a:solidFill>
                  <a:srgbClr val="FFFFFF"/>
                </a:solidFill>
                <a:latin typeface="Arial" panose="020B0604020202020204" pitchFamily="34" charset="0"/>
              </a:rPr>
              <a:t>• Tích hợp VNPay/PayPal
• Tích hợp SMTP production
• Bổ sung tracking vận chuyển
• Hoàn thiện quản lý kho, bảo hành, audit log
• Bổ sung kiểm thử tự động</a:t>
            </a:r>
          </a:p>
        </p:txBody>
      </p:sp>
    </p:spTree>
    <p:extLst>
      <p:ext uri="{BB962C8B-B14F-4D97-AF65-F5344CB8AC3E}">
        <p14:creationId xmlns:p14="http://schemas.microsoft.com/office/powerpoint/2010/main" val="29328574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2AA350D-7969-0D6A-6D82-8D4773B862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271C39-A2CF-534B-2737-04A56A0E264D}"/>
              </a:ext>
            </a:extLst>
          </p:cNvPr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0" y="177800"/>
            <a:ext cx="990600" cy="3556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1AC44F-B02D-F2F6-B4D8-7458C973C19E}"/>
              </a:ext>
            </a:extLst>
          </p:cNvPr>
          <p:cNvSpPr txBox="1"/>
          <p:nvPr/>
        </p:nvSpPr>
        <p:spPr>
          <a:xfrm>
            <a:off x="1524000" y="2413000"/>
            <a:ext cx="6096000" cy="830997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en-US" sz="4400" b="1">
                <a:solidFill>
                  <a:srgbClr val="FFD650"/>
                </a:solidFill>
                <a:latin typeface="Arial" panose="020B0604020202020204" pitchFamily="34" charset="0"/>
              </a:rPr>
              <a:t>Thank you!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9F006-DCF6-2C56-A548-52D6378780D5}"/>
              </a:ext>
            </a:extLst>
          </p:cNvPr>
          <p:cNvSpPr txBox="1"/>
          <p:nvPr/>
        </p:nvSpPr>
        <p:spPr>
          <a:xfrm>
            <a:off x="1778000" y="3429000"/>
            <a:ext cx="5588000" cy="523220"/>
          </a:xfrm>
          <a:prstGeom prst="rect">
            <a:avLst/>
          </a:prstGeom>
          <a:noFill/>
        </p:spPr>
        <p:txBody>
          <a:bodyPr vert="horz" lIns="101600" tIns="76200" rIns="101600" bIns="76200" rtlCol="0">
            <a:spAutoFit/>
          </a:bodyPr>
          <a:lstStyle/>
          <a:p>
            <a:r>
              <a:rPr lang="vi-VN" sz="2400">
                <a:solidFill>
                  <a:srgbClr val="FFFFFF"/>
                </a:solidFill>
                <a:latin typeface="Arial" panose="020B0604020202020204" pitchFamily="34" charset="0"/>
              </a:rPr>
              <a:t>Em xin chân thành cảm ơn!</a:t>
            </a:r>
            <a:endParaRPr lang="en-US" sz="2400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768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00F26789EA76046984485AE53F9D096" ma:contentTypeVersion="12" ma:contentTypeDescription="Create a new document." ma:contentTypeScope="" ma:versionID="cc550a6fc57d16cd3acb00c5197d8410">
  <xsd:schema xmlns:xsd="http://www.w3.org/2001/XMLSchema" xmlns:xs="http://www.w3.org/2001/XMLSchema" xmlns:p="http://schemas.microsoft.com/office/2006/metadata/properties" xmlns:ns2="153fcabd-57af-4a56-8983-dd18762d0f52" xmlns:ns3="2d536adb-6e4e-486d-ab56-aaa6984defbe" targetNamespace="http://schemas.microsoft.com/office/2006/metadata/properties" ma:root="true" ma:fieldsID="e31185cd3901ed546f90f0f5abc3073f" ns2:_="" ns3:_="">
    <xsd:import namespace="153fcabd-57af-4a56-8983-dd18762d0f52"/>
    <xsd:import namespace="2d536adb-6e4e-486d-ab56-aaa6984def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3fcabd-57af-4a56-8983-dd18762d0f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4f28ad-64bb-42c4-9fe1-28e8126d2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536adb-6e4e-486d-ab56-aaa6984defbe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985bf07-9a8d-4074-98b9-2677f2f87eb5}" ma:internalName="TaxCatchAll" ma:showField="CatchAllData" ma:web="2d536adb-6e4e-486d-ab56-aaa6984defb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53fcabd-57af-4a56-8983-dd18762d0f52">
      <Terms xmlns="http://schemas.microsoft.com/office/infopath/2007/PartnerControls"/>
    </lcf76f155ced4ddcb4097134ff3c332f>
    <TaxCatchAll xmlns="2d536adb-6e4e-486d-ab56-aaa6984defbe" xsi:nil="true"/>
  </documentManagement>
</p:properties>
</file>

<file path=customXml/itemProps1.xml><?xml version="1.0" encoding="utf-8"?>
<ds:datastoreItem xmlns:ds="http://schemas.openxmlformats.org/officeDocument/2006/customXml" ds:itemID="{5DB0BCB2-22ED-44B1-8373-65C9EE8259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3fcabd-57af-4a56-8983-dd18762d0f52"/>
    <ds:schemaRef ds:uri="2d536adb-6e4e-486d-ab56-aaa6984def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956FB51-9556-42E2-AEC7-29477AB8B6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267F815-AB44-4B44-9DF3-CE62F88C2482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2d536adb-6e4e-486d-ab56-aaa6984defbe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53fcabd-57af-4a56-8983-dd18762d0f5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7578</TotalTime>
  <Words>1028</Words>
  <Application>Microsoft Office PowerPoint</Application>
  <PresentationFormat>On-screen Show (4:3)</PresentationFormat>
  <Paragraphs>135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Verdana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Đề tài:  Thiết kế giao diện trang web bán hoa, phân tích ưu nhược điểm của giao diện đó</dc:title>
  <dc:creator>DIEU HUONG</dc:creator>
  <cp:lastModifiedBy>ĐỖ ĐĂNG ĐỨC</cp:lastModifiedBy>
  <cp:revision>58</cp:revision>
  <dcterms:created xsi:type="dcterms:W3CDTF">2015-11-28T13:17:56Z</dcterms:created>
  <dcterms:modified xsi:type="dcterms:W3CDTF">2026-05-05T03:32:54Z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0x010100900F26789EA76046984485AE53F9D096</vt:lpwstr>
  </property>
  <property fmtid="{D5CDD505-2E9C-101B-9397-08002B2CF9AE}" pid="3" name="MediaServiceImageTags">
    <vt:lpwstr/>
  </property>
</Properties>
</file>